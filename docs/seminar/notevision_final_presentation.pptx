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029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57607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72B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NoteVision OMR</a:t>
            </a:r>
            <a:endParaRPr lang="en-US" sz="3600" dirty="0">
              <a:solidFill>
                <a:srgbClr val="0072BC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67512" y="1207008"/>
            <a:ext cx="6035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Анализ сканированных нотных документов РГБ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3232" y="2011680"/>
            <a:ext cx="52120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</a:rPr>
              <a:t>• PDF-сканы доступны для просмотра, но не для музыкального анализа
• Нужно автоматически находить нотные страницы
• Целевой результат: редактируемые MXL и MIDI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13232" y="3749040"/>
            <a:ext cx="51206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PDF/MRC  →  pages  →  detector  →  labels  →  OMR candidates  →  300 DPI  →  Audiveris  →  MXL  →  music21  →  MIDI  →  Ableton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03720" y="5971032"/>
            <a:ext cx="4480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2BC"/>
                </a:solidFill>
              </a:rPr>
              <a:t>От изображения документа к музыкальным данным</a:t>
            </a:r>
            <a:endParaRPr lang="en-US" sz="1400" dirty="0">
              <a:solidFill>
                <a:srgbClr val="0072BC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0652760" y="6446520"/>
            <a:ext cx="105156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1/8</a:t>
            </a:r>
            <a:endParaRPr lang="en-US" sz="800" dirty="0"/>
          </a:p>
        </p:txBody>
      </p:sp>
      <p:pic>
        <p:nvPicPr>
          <p:cNvPr id="9" name="Рисунок 9">
            <a:extLst>
              <a:ext uri="{FF2B5EF4-FFF2-40B4-BE49-F238E27FC236}">
                <a16:creationId xmlns:a16="http://schemas.microsoft.com/office/drawing/2014/main" id="{1916116A-D61A-1145-51D9-2DFFA5696A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40" y="5424455"/>
            <a:ext cx="2665723" cy="1184877"/>
          </a:xfrm>
          <a:prstGeom prst="rect">
            <a:avLst/>
          </a:prstGeom>
        </p:spPr>
      </p:pic>
      <p:pic>
        <p:nvPicPr>
          <p:cNvPr id="11" name="Picture 10" descr="A sheet of music with notes&#10;&#10;AI-generated content may be incorrect.">
            <a:extLst>
              <a:ext uri="{FF2B5EF4-FFF2-40B4-BE49-F238E27FC236}">
                <a16:creationId xmlns:a16="http://schemas.microsoft.com/office/drawing/2014/main" id="{C20CEE10-E241-F969-2F4B-E448A6DC1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217" y="404535"/>
            <a:ext cx="3633566" cy="54476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72B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Цель и границы MVP</a:t>
            </a:r>
            <a:endParaRPr lang="en-US" sz="2500" dirty="0">
              <a:solidFill>
                <a:srgbClr val="0072BC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9875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Что именно проверяет проектный прототип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10881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F172A"/>
                </a:solidFill>
              </a:rPr>
              <a:t>Цель: локальный pipeline PDF/MRC → MXL → MIDI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754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</a:rPr>
              <a:t>Входит в MVP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633472"/>
            <a:ext cx="45720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</a:rPr>
              <a:t>• импорт PDF/MRC
• извлечение страниц
• детекция + ручная валидация
• Audiveris OMR
• MXL → MIDI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92240" y="2148840"/>
            <a:ext cx="4754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</a:rPr>
              <a:t>Не входит в MVP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633472"/>
            <a:ext cx="45720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</a:rPr>
              <a:t>• web UI / REST API
• собственная OMR-модель
• экспертная проверка всех нот
• поиск по мелодии
• промышленное масштабирование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652760" y="6446520"/>
            <a:ext cx="105156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2/8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6053328"/>
            <a:ext cx="10698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pic>
        <p:nvPicPr>
          <p:cNvPr id="14" name="image1.jpg">
            <a:extLst>
              <a:ext uri="{FF2B5EF4-FFF2-40B4-BE49-F238E27FC236}">
                <a16:creationId xmlns:a16="http://schemas.microsoft.com/office/drawing/2014/main" id="{014DA4BF-2805-8449-5EAF-E59C8B4E7DE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26280" y="6213378"/>
            <a:ext cx="621059" cy="49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Shape 14">
            <a:extLst>
              <a:ext uri="{FF2B5EF4-FFF2-40B4-BE49-F238E27FC236}">
                <a16:creationId xmlns:a16="http://schemas.microsoft.com/office/drawing/2014/main" id="{7E45852B-F77D-E64A-CDCD-F93B303AFDC2}"/>
              </a:ext>
            </a:extLst>
          </p:cNvPr>
          <p:cNvSpPr/>
          <p:nvPr/>
        </p:nvSpPr>
        <p:spPr>
          <a:xfrm>
            <a:off x="832312" y="6323478"/>
            <a:ext cx="507417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500">
                <a:solidFill>
                  <a:srgbClr val="535353"/>
                </a:solidFill>
              </a:defRPr>
            </a:lvl1pPr>
          </a:lstStyle>
          <a:p>
            <a:r>
              <a:rPr lang="en-US" sz="1200" b="1" dirty="0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NoteVision</a:t>
            </a:r>
            <a:r>
              <a:rPr lang="en-US" sz="1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OMR</a:t>
            </a:r>
            <a:r>
              <a:rPr lang="ru-RU" sz="1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Анализ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сканированных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нотных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документов</a:t>
            </a:r>
            <a:r>
              <a:rPr lang="en-US" sz="1200" dirty="0">
                <a:solidFill>
                  <a:srgbClr val="64748B"/>
                </a:solidFill>
              </a:rPr>
              <a:t> РГБ</a:t>
            </a:r>
            <a:endParaRPr lang="en-US" sz="12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1ACB751-1CFF-040B-9F21-EC086B986C80}"/>
              </a:ext>
            </a:extLst>
          </p:cNvPr>
          <p:cNvGrpSpPr/>
          <p:nvPr/>
        </p:nvGrpSpPr>
        <p:grpSpPr>
          <a:xfrm>
            <a:off x="2874573" y="4491089"/>
            <a:ext cx="5904662" cy="1569998"/>
            <a:chOff x="2874573" y="4491089"/>
            <a:chExt cx="5904662" cy="1569998"/>
          </a:xfrm>
        </p:grpSpPr>
        <p:pic>
          <p:nvPicPr>
            <p:cNvPr id="17" name="Picture 1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F2AE445E-3589-8612-E98A-EFD0B181C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41905" y="4526951"/>
              <a:ext cx="1447576" cy="1447576"/>
            </a:xfrm>
            <a:prstGeom prst="rect">
              <a:avLst/>
            </a:prstGeom>
          </p:spPr>
        </p:pic>
        <p:pic>
          <p:nvPicPr>
            <p:cNvPr id="19" name="Picture 18" descr="A file with a red label&#10;&#10;AI-generated content may be incorrect.">
              <a:extLst>
                <a:ext uri="{FF2B5EF4-FFF2-40B4-BE49-F238E27FC236}">
                  <a16:creationId xmlns:a16="http://schemas.microsoft.com/office/drawing/2014/main" id="{3170D3AC-8D20-34AD-A418-D6A399D8F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74573" y="4523456"/>
              <a:ext cx="1447576" cy="1447576"/>
            </a:xfrm>
            <a:prstGeom prst="rect">
              <a:avLst/>
            </a:prstGeom>
          </p:spPr>
        </p:pic>
        <p:pic>
          <p:nvPicPr>
            <p:cNvPr id="21" name="Picture 20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6F8EB501-69B1-97CD-5623-25EF4719E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09237" y="4491089"/>
              <a:ext cx="1569998" cy="15699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72B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Данные и ручная валидация</a:t>
            </a:r>
            <a:endParaRPr lang="en-US" sz="2500" dirty="0">
              <a:solidFill>
                <a:srgbClr val="0072BC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9875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Корпус, разметка и контроль ошибок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16002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856232"/>
            <a:ext cx="1600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документов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651760" y="1417320"/>
            <a:ext cx="16002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434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651760" y="1856232"/>
            <a:ext cx="1600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страницы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26280" y="1417320"/>
            <a:ext cx="16002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392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26280" y="1856232"/>
            <a:ext cx="1600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OMR-кандидата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530352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</a:rPr>
              <a:t>• ручная проверка через HTML review gallery
• исправлено 7 пустых страниц
• исходники и outputs не коммитятся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19460" y="4983478"/>
            <a:ext cx="4673379" cy="4532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Исправленные страницы: rsl01001872102/page_003, page_004, page_059–page_063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52760" y="6446520"/>
            <a:ext cx="105156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3/8</a:t>
            </a:r>
            <a:endParaRPr lang="en-US" sz="800" dirty="0"/>
          </a:p>
        </p:txBody>
      </p:sp>
      <p:pic>
        <p:nvPicPr>
          <p:cNvPr id="16" name="image1.jpg">
            <a:extLst>
              <a:ext uri="{FF2B5EF4-FFF2-40B4-BE49-F238E27FC236}">
                <a16:creationId xmlns:a16="http://schemas.microsoft.com/office/drawing/2014/main" id="{E1BA2D23-95C2-AC03-CF2F-271AF0C8797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26280" y="6213378"/>
            <a:ext cx="621059" cy="49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Shape 14">
            <a:extLst>
              <a:ext uri="{FF2B5EF4-FFF2-40B4-BE49-F238E27FC236}">
                <a16:creationId xmlns:a16="http://schemas.microsoft.com/office/drawing/2014/main" id="{CA270D9F-2ACF-D20C-7FAA-A66131C63B86}"/>
              </a:ext>
            </a:extLst>
          </p:cNvPr>
          <p:cNvSpPr/>
          <p:nvPr/>
        </p:nvSpPr>
        <p:spPr>
          <a:xfrm>
            <a:off x="832312" y="6323478"/>
            <a:ext cx="507417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500">
                <a:solidFill>
                  <a:srgbClr val="535353"/>
                </a:solidFill>
              </a:defRPr>
            </a:lvl1pPr>
          </a:lstStyle>
          <a:p>
            <a:r>
              <a:rPr lang="en-US" sz="1200" b="1" dirty="0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NoteVision</a:t>
            </a:r>
            <a:r>
              <a:rPr lang="en-US" sz="1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OMR</a:t>
            </a:r>
            <a:r>
              <a:rPr lang="ru-RU" sz="1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Анализ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сканированных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нотных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документов</a:t>
            </a:r>
            <a:r>
              <a:rPr lang="en-US" sz="1200" dirty="0">
                <a:solidFill>
                  <a:srgbClr val="64748B"/>
                </a:solidFill>
              </a:rPr>
              <a:t> РГБ</a:t>
            </a:r>
            <a:endParaRPr lang="en-US" sz="1200" dirty="0"/>
          </a:p>
        </p:txBody>
      </p:sp>
      <p:pic>
        <p:nvPicPr>
          <p:cNvPr id="19" name="Picture 18" descr="A close-up of a brown paper&#10;&#10;AI-generated content may be incorrect.">
            <a:extLst>
              <a:ext uri="{FF2B5EF4-FFF2-40B4-BE49-F238E27FC236}">
                <a16:creationId xmlns:a16="http://schemas.microsoft.com/office/drawing/2014/main" id="{716081C7-9AA5-ADEE-1731-ADD0F4FA0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438" y="1344166"/>
            <a:ext cx="2366431" cy="3547873"/>
          </a:xfrm>
          <a:prstGeom prst="rect">
            <a:avLst/>
          </a:prstGeom>
        </p:spPr>
      </p:pic>
      <p:pic>
        <p:nvPicPr>
          <p:cNvPr id="21" name="Picture 20" descr="A close-up of a paper&#10;&#10;AI-generated content may be incorrect.">
            <a:extLst>
              <a:ext uri="{FF2B5EF4-FFF2-40B4-BE49-F238E27FC236}">
                <a16:creationId xmlns:a16="http://schemas.microsoft.com/office/drawing/2014/main" id="{0065934F-C8EE-FD1E-A71A-E8BA16266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2091" y="1350527"/>
            <a:ext cx="2362189" cy="35415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72B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Архитектура pipeline</a:t>
            </a:r>
            <a:endParaRPr lang="en-US" sz="2500" dirty="0">
              <a:solidFill>
                <a:srgbClr val="0072BC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9875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Гибридный подход: CV + ручная проверка + Audiveris + music21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986" y="534072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OpenCV + rules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986" y="570648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быстрый отбор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нотных страниц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93906" y="534072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Ручная валидация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93906" y="570648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снижение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false positive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82826" y="534072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</a:rPr>
              <a:t>Audiveris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82826" y="570648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распознавание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нотной структуры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71746" y="534072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music21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71746" y="570648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конвертация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MXL → MIDI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52760" y="6446520"/>
            <a:ext cx="105156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4/8</a:t>
            </a:r>
            <a:endParaRPr lang="en-US" sz="800" dirty="0"/>
          </a:p>
        </p:txBody>
      </p:sp>
      <p:pic>
        <p:nvPicPr>
          <p:cNvPr id="17" name="image1.jpg">
            <a:extLst>
              <a:ext uri="{FF2B5EF4-FFF2-40B4-BE49-F238E27FC236}">
                <a16:creationId xmlns:a16="http://schemas.microsoft.com/office/drawing/2014/main" id="{228D73D5-8772-D871-6407-B218B716694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26280" y="6213378"/>
            <a:ext cx="621059" cy="49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Shape 14">
            <a:extLst>
              <a:ext uri="{FF2B5EF4-FFF2-40B4-BE49-F238E27FC236}">
                <a16:creationId xmlns:a16="http://schemas.microsoft.com/office/drawing/2014/main" id="{5DA7D576-9F4F-5D6F-F53F-4BB1DB8EDE6D}"/>
              </a:ext>
            </a:extLst>
          </p:cNvPr>
          <p:cNvSpPr/>
          <p:nvPr/>
        </p:nvSpPr>
        <p:spPr>
          <a:xfrm>
            <a:off x="832312" y="6323478"/>
            <a:ext cx="507417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500">
                <a:solidFill>
                  <a:srgbClr val="535353"/>
                </a:solidFill>
              </a:defRPr>
            </a:lvl1pPr>
          </a:lstStyle>
          <a:p>
            <a:r>
              <a:rPr lang="en-US" sz="1200" b="1" dirty="0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NoteVision</a:t>
            </a:r>
            <a:r>
              <a:rPr lang="en-US" sz="1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OMR</a:t>
            </a:r>
            <a:r>
              <a:rPr lang="ru-RU" sz="1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Анализ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сканированных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нотных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документов</a:t>
            </a:r>
            <a:r>
              <a:rPr lang="en-US" sz="1200" dirty="0">
                <a:solidFill>
                  <a:srgbClr val="64748B"/>
                </a:solidFill>
              </a:rPr>
              <a:t> РГБ</a:t>
            </a:r>
            <a:endParaRPr lang="en-US" sz="1200" dirty="0"/>
          </a:p>
        </p:txBody>
      </p:sp>
      <p:sp>
        <p:nvSpPr>
          <p:cNvPr id="19" name="Rounded Rectangle 4">
            <a:extLst>
              <a:ext uri="{FF2B5EF4-FFF2-40B4-BE49-F238E27FC236}">
                <a16:creationId xmlns:a16="http://schemas.microsoft.com/office/drawing/2014/main" id="{16F77176-56E2-0A06-FA7F-9A9AD849966B}"/>
              </a:ext>
            </a:extLst>
          </p:cNvPr>
          <p:cNvSpPr/>
          <p:nvPr/>
        </p:nvSpPr>
        <p:spPr>
          <a:xfrm>
            <a:off x="182880" y="2414137"/>
            <a:ext cx="1033272" cy="1383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25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7FD8C58-E1D3-242A-AD89-DF6DB0D55007}"/>
              </a:ext>
            </a:extLst>
          </p:cNvPr>
          <p:cNvSpPr/>
          <p:nvPr/>
        </p:nvSpPr>
        <p:spPr>
          <a:xfrm>
            <a:off x="530352" y="2245238"/>
            <a:ext cx="310896" cy="310896"/>
          </a:xfrm>
          <a:prstGeom prst="ellipse">
            <a:avLst/>
          </a:prstGeom>
          <a:solidFill>
            <a:srgbClr val="6250AA"/>
          </a:solidFill>
          <a:ln>
            <a:solidFill>
              <a:srgbClr val="625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44B4DB-E8A6-F1B6-4E86-8FB1EA026057}"/>
              </a:ext>
            </a:extLst>
          </p:cNvPr>
          <p:cNvSpPr txBox="1"/>
          <p:nvPr/>
        </p:nvSpPr>
        <p:spPr>
          <a:xfrm>
            <a:off x="182880" y="2605795"/>
            <a:ext cx="1033272" cy="17449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150" b="1">
                <a:solidFill>
                  <a:srgbClr val="0A122A"/>
                </a:solidFill>
                <a:latin typeface="Aptos"/>
              </a:defRPr>
            </a:pPr>
            <a:r>
              <a:rPr sz="900" dirty="0"/>
              <a:t>PDF + MRC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698F6B-011B-03A5-61C2-C0180DB8C641}"/>
              </a:ext>
            </a:extLst>
          </p:cNvPr>
          <p:cNvSpPr txBox="1"/>
          <p:nvPr/>
        </p:nvSpPr>
        <p:spPr>
          <a:xfrm>
            <a:off x="245872" y="3258166"/>
            <a:ext cx="909320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840" b="0">
                <a:solidFill>
                  <a:srgbClr val="374158"/>
                </a:solidFill>
                <a:latin typeface="Aptos"/>
              </a:defRPr>
            </a:pPr>
            <a:r>
              <a:rPr sz="800" dirty="0" err="1"/>
              <a:t>исходный</a:t>
            </a:r>
            <a:r>
              <a:rPr sz="800" dirty="0"/>
              <a:t> </a:t>
            </a:r>
            <a:r>
              <a:rPr sz="800" dirty="0" err="1"/>
              <a:t>документ</a:t>
            </a:r>
            <a:br>
              <a:rPr sz="800" dirty="0"/>
            </a:br>
            <a:r>
              <a:rPr sz="800" dirty="0"/>
              <a:t>и </a:t>
            </a:r>
            <a:r>
              <a:rPr sz="800" dirty="0" err="1"/>
              <a:t>метаданные</a:t>
            </a:r>
            <a:endParaRPr sz="800" dirty="0"/>
          </a:p>
        </p:txBody>
      </p:sp>
      <p:sp>
        <p:nvSpPr>
          <p:cNvPr id="23" name="Rounded Rectangle 8">
            <a:extLst>
              <a:ext uri="{FF2B5EF4-FFF2-40B4-BE49-F238E27FC236}">
                <a16:creationId xmlns:a16="http://schemas.microsoft.com/office/drawing/2014/main" id="{A8F2560B-B2E8-8E2F-65B2-EC7FEEBC6C28}"/>
              </a:ext>
            </a:extLst>
          </p:cNvPr>
          <p:cNvSpPr/>
          <p:nvPr/>
        </p:nvSpPr>
        <p:spPr>
          <a:xfrm>
            <a:off x="1517903" y="2399765"/>
            <a:ext cx="1033272" cy="1383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7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BDC9470-20AE-26BA-51CA-716B351B7EE8}"/>
              </a:ext>
            </a:extLst>
          </p:cNvPr>
          <p:cNvSpPr/>
          <p:nvPr/>
        </p:nvSpPr>
        <p:spPr>
          <a:xfrm>
            <a:off x="1865375" y="2230866"/>
            <a:ext cx="310896" cy="310896"/>
          </a:xfrm>
          <a:prstGeom prst="ellipse">
            <a:avLst/>
          </a:prstGeom>
          <a:solidFill>
            <a:srgbClr val="3474BF"/>
          </a:solidFill>
          <a:ln>
            <a:solidFill>
              <a:srgbClr val="347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0BEB79-AC37-881F-2581-016205F4D57B}"/>
              </a:ext>
            </a:extLst>
          </p:cNvPr>
          <p:cNvSpPr txBox="1"/>
          <p:nvPr/>
        </p:nvSpPr>
        <p:spPr>
          <a:xfrm>
            <a:off x="1517904" y="2591423"/>
            <a:ext cx="1033272" cy="3122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150" b="1">
                <a:solidFill>
                  <a:srgbClr val="0A122A"/>
                </a:solidFill>
                <a:latin typeface="Aptos"/>
              </a:defRPr>
            </a:pPr>
            <a:r>
              <a:rPr sz="900"/>
              <a:t>Извлечение страниц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49BB54-945C-75E2-6ED9-C2409AE56FBB}"/>
              </a:ext>
            </a:extLst>
          </p:cNvPr>
          <p:cNvSpPr txBox="1"/>
          <p:nvPr/>
        </p:nvSpPr>
        <p:spPr>
          <a:xfrm>
            <a:off x="1580895" y="3243794"/>
            <a:ext cx="90932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840" b="0">
                <a:solidFill>
                  <a:srgbClr val="374158"/>
                </a:solidFill>
                <a:latin typeface="Aptos"/>
              </a:defRPr>
            </a:pPr>
            <a:r>
              <a:rPr sz="800"/>
              <a:t>PNG, manifest</a:t>
            </a:r>
            <a:br>
              <a:rPr sz="800"/>
            </a:br>
            <a:r>
              <a:rPr sz="800"/>
              <a:t>200 DPI</a:t>
            </a:r>
          </a:p>
        </p:txBody>
      </p: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FEEF474B-3667-BD7E-4982-6EFC36998731}"/>
              </a:ext>
            </a:extLst>
          </p:cNvPr>
          <p:cNvSpPr/>
          <p:nvPr/>
        </p:nvSpPr>
        <p:spPr>
          <a:xfrm>
            <a:off x="2848356" y="2396875"/>
            <a:ext cx="1033272" cy="1383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6C7BE1D-35B2-21DA-4FA4-D6DF492DC028}"/>
              </a:ext>
            </a:extLst>
          </p:cNvPr>
          <p:cNvSpPr/>
          <p:nvPr/>
        </p:nvSpPr>
        <p:spPr>
          <a:xfrm>
            <a:off x="3195828" y="2227976"/>
            <a:ext cx="310896" cy="310896"/>
          </a:xfrm>
          <a:prstGeom prst="ellipse">
            <a:avLst/>
          </a:prstGeom>
          <a:solidFill>
            <a:srgbClr val="26857E"/>
          </a:solidFill>
          <a:ln>
            <a:solidFill>
              <a:srgbClr val="26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7399E3-6261-F72F-0A08-0C936ED8E7C5}"/>
              </a:ext>
            </a:extLst>
          </p:cNvPr>
          <p:cNvSpPr txBox="1"/>
          <p:nvPr/>
        </p:nvSpPr>
        <p:spPr>
          <a:xfrm>
            <a:off x="2848357" y="2588533"/>
            <a:ext cx="1033272" cy="17543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150" b="1">
                <a:solidFill>
                  <a:srgbClr val="0A122A"/>
                </a:solidFill>
                <a:latin typeface="Aptos"/>
              </a:defRPr>
            </a:pPr>
            <a:r>
              <a:rPr sz="900"/>
              <a:t>Детектор + labels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D2407E-83C3-2F7B-0BEF-968B43297F10}"/>
              </a:ext>
            </a:extLst>
          </p:cNvPr>
          <p:cNvSpPr txBox="1"/>
          <p:nvPr/>
        </p:nvSpPr>
        <p:spPr>
          <a:xfrm>
            <a:off x="2911348" y="3240903"/>
            <a:ext cx="909320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840" b="0">
                <a:solidFill>
                  <a:srgbClr val="374158"/>
                </a:solidFill>
                <a:latin typeface="Aptos"/>
              </a:defRPr>
            </a:pPr>
            <a:r>
              <a:rPr sz="800"/>
              <a:t>music / title / text / blank</a:t>
            </a:r>
            <a:br>
              <a:rPr sz="800"/>
            </a:br>
            <a:r>
              <a:rPr sz="800"/>
              <a:t>ручная проверка</a:t>
            </a:r>
          </a:p>
        </p:txBody>
      </p:sp>
      <p:sp>
        <p:nvSpPr>
          <p:cNvPr id="31" name="Rounded Rectangle 16">
            <a:extLst>
              <a:ext uri="{FF2B5EF4-FFF2-40B4-BE49-F238E27FC236}">
                <a16:creationId xmlns:a16="http://schemas.microsoft.com/office/drawing/2014/main" id="{8528560C-65A5-71F1-F1B2-5537BA88A5DA}"/>
              </a:ext>
            </a:extLst>
          </p:cNvPr>
          <p:cNvSpPr/>
          <p:nvPr/>
        </p:nvSpPr>
        <p:spPr>
          <a:xfrm>
            <a:off x="4186427" y="2361447"/>
            <a:ext cx="1033272" cy="1383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29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107836D-BAAF-F2E0-45DB-62CFB42EA27C}"/>
              </a:ext>
            </a:extLst>
          </p:cNvPr>
          <p:cNvSpPr/>
          <p:nvPr/>
        </p:nvSpPr>
        <p:spPr>
          <a:xfrm>
            <a:off x="4533898" y="2192548"/>
            <a:ext cx="310896" cy="310896"/>
          </a:xfrm>
          <a:prstGeom prst="ellipse">
            <a:avLst/>
          </a:prstGeom>
          <a:solidFill>
            <a:srgbClr val="529459"/>
          </a:solidFill>
          <a:ln>
            <a:solidFill>
              <a:srgbClr val="529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59F428-92C7-0603-630C-08D3353F890A}"/>
              </a:ext>
            </a:extLst>
          </p:cNvPr>
          <p:cNvSpPr txBox="1"/>
          <p:nvPr/>
        </p:nvSpPr>
        <p:spPr>
          <a:xfrm>
            <a:off x="4186428" y="2553105"/>
            <a:ext cx="1033272" cy="17543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150" b="1">
                <a:solidFill>
                  <a:srgbClr val="0A122A"/>
                </a:solidFill>
                <a:latin typeface="Aptos"/>
              </a:defRPr>
            </a:pPr>
            <a:r>
              <a:rPr sz="900"/>
              <a:t>OMR-кандидаты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E833B9-7CCC-B4E9-98AE-BFFFBFEBE3CA}"/>
              </a:ext>
            </a:extLst>
          </p:cNvPr>
          <p:cNvSpPr txBox="1"/>
          <p:nvPr/>
        </p:nvSpPr>
        <p:spPr>
          <a:xfrm>
            <a:off x="4249419" y="3205476"/>
            <a:ext cx="90932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840" b="0">
                <a:solidFill>
                  <a:srgbClr val="374158"/>
                </a:solidFill>
                <a:latin typeface="Aptos"/>
              </a:defRPr>
            </a:pPr>
            <a:r>
              <a:rPr sz="800" dirty="0" err="1"/>
              <a:t>has_music</a:t>
            </a:r>
            <a:r>
              <a:rPr sz="800" dirty="0"/>
              <a:t> = 1</a:t>
            </a:r>
            <a:br>
              <a:rPr sz="800" dirty="0"/>
            </a:br>
            <a:r>
              <a:rPr sz="800" dirty="0" err="1"/>
              <a:t>page_type</a:t>
            </a:r>
            <a:r>
              <a:rPr sz="800" dirty="0"/>
              <a:t> = music</a:t>
            </a:r>
          </a:p>
        </p:txBody>
      </p:sp>
      <p:sp>
        <p:nvSpPr>
          <p:cNvPr id="35" name="Rounded Rectangle 20">
            <a:extLst>
              <a:ext uri="{FF2B5EF4-FFF2-40B4-BE49-F238E27FC236}">
                <a16:creationId xmlns:a16="http://schemas.microsoft.com/office/drawing/2014/main" id="{AD96E1DA-1177-56C3-B3A2-D6032B50564B}"/>
              </a:ext>
            </a:extLst>
          </p:cNvPr>
          <p:cNvSpPr/>
          <p:nvPr/>
        </p:nvSpPr>
        <p:spPr>
          <a:xfrm>
            <a:off x="5524496" y="2356587"/>
            <a:ext cx="1033272" cy="1383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9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AF77EFC-757B-7EEC-826A-E65471A97ADD}"/>
              </a:ext>
            </a:extLst>
          </p:cNvPr>
          <p:cNvSpPr/>
          <p:nvPr/>
        </p:nvSpPr>
        <p:spPr>
          <a:xfrm>
            <a:off x="5871968" y="2187688"/>
            <a:ext cx="310896" cy="310896"/>
          </a:xfrm>
          <a:prstGeom prst="ellipse">
            <a:avLst/>
          </a:prstGeom>
          <a:solidFill>
            <a:srgbClr val="E19F2D"/>
          </a:solidFill>
          <a:ln>
            <a:solidFill>
              <a:srgbClr val="E19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2A1DF2-5B4C-6442-3204-AEAD25F486F3}"/>
              </a:ext>
            </a:extLst>
          </p:cNvPr>
          <p:cNvSpPr txBox="1"/>
          <p:nvPr/>
        </p:nvSpPr>
        <p:spPr>
          <a:xfrm>
            <a:off x="5524497" y="2548245"/>
            <a:ext cx="1033272" cy="17449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150" b="1">
                <a:solidFill>
                  <a:srgbClr val="0A122A"/>
                </a:solidFill>
                <a:latin typeface="Aptos"/>
              </a:defRPr>
            </a:pPr>
            <a:r>
              <a:rPr sz="900"/>
              <a:t>300 DPI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2FB230-40E3-5F02-E174-7B8ED6E7C2CE}"/>
              </a:ext>
            </a:extLst>
          </p:cNvPr>
          <p:cNvSpPr txBox="1"/>
          <p:nvPr/>
        </p:nvSpPr>
        <p:spPr>
          <a:xfrm>
            <a:off x="5587488" y="3200614"/>
            <a:ext cx="909320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840" b="0">
                <a:solidFill>
                  <a:srgbClr val="374158"/>
                </a:solidFill>
                <a:latin typeface="Aptos"/>
              </a:defRPr>
            </a:pPr>
            <a:r>
              <a:rPr sz="800"/>
              <a:t>повторное извлечение</a:t>
            </a:r>
            <a:br>
              <a:rPr sz="800"/>
            </a:br>
            <a:r>
              <a:rPr sz="800"/>
              <a:t>из исходного PDF</a:t>
            </a:r>
          </a:p>
        </p:txBody>
      </p:sp>
      <p:sp>
        <p:nvSpPr>
          <p:cNvPr id="39" name="Rounded Rectangle 24">
            <a:extLst>
              <a:ext uri="{FF2B5EF4-FFF2-40B4-BE49-F238E27FC236}">
                <a16:creationId xmlns:a16="http://schemas.microsoft.com/office/drawing/2014/main" id="{101C7272-05E9-5EEA-B5EA-1EF9E0E31DFB}"/>
              </a:ext>
            </a:extLst>
          </p:cNvPr>
          <p:cNvSpPr/>
          <p:nvPr/>
        </p:nvSpPr>
        <p:spPr>
          <a:xfrm>
            <a:off x="6866123" y="2368418"/>
            <a:ext cx="1033272" cy="1383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E981E63-4612-81F5-FB12-583AAC4B665D}"/>
              </a:ext>
            </a:extLst>
          </p:cNvPr>
          <p:cNvSpPr/>
          <p:nvPr/>
        </p:nvSpPr>
        <p:spPr>
          <a:xfrm>
            <a:off x="7213595" y="2199519"/>
            <a:ext cx="310896" cy="310896"/>
          </a:xfrm>
          <a:prstGeom prst="ellipse">
            <a:avLst/>
          </a:prstGeom>
          <a:solidFill>
            <a:srgbClr val="EA7E2D"/>
          </a:solidFill>
          <a:ln>
            <a:solidFill>
              <a:srgbClr val="EA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3765FD-5DE6-7B0A-5EBD-9FE22185B2DF}"/>
              </a:ext>
            </a:extLst>
          </p:cNvPr>
          <p:cNvSpPr txBox="1"/>
          <p:nvPr/>
        </p:nvSpPr>
        <p:spPr>
          <a:xfrm>
            <a:off x="6866124" y="2560076"/>
            <a:ext cx="1033272" cy="17449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150" b="1">
                <a:solidFill>
                  <a:srgbClr val="0A122A"/>
                </a:solidFill>
                <a:latin typeface="Aptos"/>
              </a:defRPr>
            </a:pPr>
            <a:r>
              <a:rPr sz="900"/>
              <a:t>Audiveris OMR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A7057D-044B-F525-A199-C0D1A62E27FD}"/>
              </a:ext>
            </a:extLst>
          </p:cNvPr>
          <p:cNvSpPr txBox="1"/>
          <p:nvPr/>
        </p:nvSpPr>
        <p:spPr>
          <a:xfrm>
            <a:off x="6929114" y="3212447"/>
            <a:ext cx="90932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840" b="0">
                <a:solidFill>
                  <a:srgbClr val="374158"/>
                </a:solidFill>
                <a:latin typeface="Aptos"/>
              </a:defRPr>
            </a:pPr>
            <a:r>
              <a:rPr sz="800"/>
              <a:t>распознавание</a:t>
            </a:r>
            <a:br>
              <a:rPr sz="800"/>
            </a:br>
            <a:r>
              <a:rPr sz="800"/>
              <a:t>нотной структуры</a:t>
            </a:r>
          </a:p>
        </p:txBody>
      </p:sp>
      <p:sp>
        <p:nvSpPr>
          <p:cNvPr id="43" name="Rounded Rectangle 28">
            <a:extLst>
              <a:ext uri="{FF2B5EF4-FFF2-40B4-BE49-F238E27FC236}">
                <a16:creationId xmlns:a16="http://schemas.microsoft.com/office/drawing/2014/main" id="{5F89997C-CF2C-6A1B-1EC3-D3C9F3B7C625}"/>
              </a:ext>
            </a:extLst>
          </p:cNvPr>
          <p:cNvSpPr/>
          <p:nvPr/>
        </p:nvSpPr>
        <p:spPr>
          <a:xfrm>
            <a:off x="8199118" y="2361447"/>
            <a:ext cx="1033272" cy="1383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4F280AB-E527-D708-249F-EFF526494A3C}"/>
              </a:ext>
            </a:extLst>
          </p:cNvPr>
          <p:cNvSpPr/>
          <p:nvPr/>
        </p:nvSpPr>
        <p:spPr>
          <a:xfrm>
            <a:off x="8546590" y="2192548"/>
            <a:ext cx="310896" cy="310896"/>
          </a:xfrm>
          <a:prstGeom prst="ellipse">
            <a:avLst/>
          </a:prstGeom>
          <a:solidFill>
            <a:srgbClr val="DC4141"/>
          </a:solidFill>
          <a:ln>
            <a:solidFill>
              <a:srgbClr val="DC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38EC65-CE44-3062-E774-A416907592C6}"/>
              </a:ext>
            </a:extLst>
          </p:cNvPr>
          <p:cNvSpPr txBox="1"/>
          <p:nvPr/>
        </p:nvSpPr>
        <p:spPr>
          <a:xfrm>
            <a:off x="8199119" y="2553105"/>
            <a:ext cx="1033272" cy="17543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150" b="1">
                <a:solidFill>
                  <a:srgbClr val="0A122A"/>
                </a:solidFill>
                <a:latin typeface="Aptos"/>
              </a:defRPr>
            </a:pPr>
            <a:r>
              <a:rPr sz="900"/>
              <a:t>MXL / MusicXML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5F3CEE-9D60-3DDB-D78F-7A11B7F39369}"/>
              </a:ext>
            </a:extLst>
          </p:cNvPr>
          <p:cNvSpPr txBox="1"/>
          <p:nvPr/>
        </p:nvSpPr>
        <p:spPr>
          <a:xfrm>
            <a:off x="8207749" y="3205476"/>
            <a:ext cx="1024641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840" b="0">
                <a:solidFill>
                  <a:srgbClr val="374158"/>
                </a:solidFill>
                <a:latin typeface="Aptos"/>
              </a:defRPr>
            </a:pPr>
            <a:r>
              <a:rPr sz="800" dirty="0" err="1"/>
              <a:t>структурированный</a:t>
            </a:r>
            <a:br>
              <a:rPr sz="800" dirty="0"/>
            </a:br>
            <a:r>
              <a:rPr sz="800" dirty="0" err="1"/>
              <a:t>нотный</a:t>
            </a:r>
            <a:r>
              <a:rPr sz="800" dirty="0"/>
              <a:t> </a:t>
            </a:r>
            <a:r>
              <a:rPr sz="800" dirty="0" err="1"/>
              <a:t>формат</a:t>
            </a:r>
            <a:endParaRPr sz="800" dirty="0"/>
          </a:p>
        </p:txBody>
      </p:sp>
      <p:sp>
        <p:nvSpPr>
          <p:cNvPr id="47" name="Rounded Rectangle 32">
            <a:extLst>
              <a:ext uri="{FF2B5EF4-FFF2-40B4-BE49-F238E27FC236}">
                <a16:creationId xmlns:a16="http://schemas.microsoft.com/office/drawing/2014/main" id="{0F755D3C-D736-AEC8-161C-ACA46FD4E329}"/>
              </a:ext>
            </a:extLst>
          </p:cNvPr>
          <p:cNvSpPr/>
          <p:nvPr/>
        </p:nvSpPr>
        <p:spPr>
          <a:xfrm>
            <a:off x="9532112" y="2356587"/>
            <a:ext cx="1033272" cy="1383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24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C378165-000E-E675-1A50-A2BC885DCD17}"/>
              </a:ext>
            </a:extLst>
          </p:cNvPr>
          <p:cNvSpPr/>
          <p:nvPr/>
        </p:nvSpPr>
        <p:spPr>
          <a:xfrm>
            <a:off x="9879584" y="2187688"/>
            <a:ext cx="310896" cy="310896"/>
          </a:xfrm>
          <a:prstGeom prst="ellipse">
            <a:avLst/>
          </a:prstGeom>
          <a:solidFill>
            <a:srgbClr val="824CA0"/>
          </a:solidFill>
          <a:ln>
            <a:solidFill>
              <a:srgbClr val="824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151D7A-6DBD-08F0-8E68-E93DB480B7E5}"/>
              </a:ext>
            </a:extLst>
          </p:cNvPr>
          <p:cNvSpPr txBox="1"/>
          <p:nvPr/>
        </p:nvSpPr>
        <p:spPr>
          <a:xfrm>
            <a:off x="9532113" y="2548245"/>
            <a:ext cx="1033272" cy="17449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150" b="1">
                <a:solidFill>
                  <a:srgbClr val="0A122A"/>
                </a:solidFill>
                <a:latin typeface="Aptos"/>
              </a:defRPr>
            </a:pPr>
            <a:r>
              <a:rPr sz="900"/>
              <a:t>music21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25F96DC-FBE2-94B8-1A8F-43612AB93A86}"/>
              </a:ext>
            </a:extLst>
          </p:cNvPr>
          <p:cNvSpPr txBox="1"/>
          <p:nvPr/>
        </p:nvSpPr>
        <p:spPr>
          <a:xfrm>
            <a:off x="9595104" y="3200616"/>
            <a:ext cx="90932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840" b="0">
                <a:solidFill>
                  <a:srgbClr val="374158"/>
                </a:solidFill>
                <a:latin typeface="Aptos"/>
              </a:defRPr>
            </a:pPr>
            <a:r>
              <a:rPr sz="800"/>
              <a:t>MXL → MIDI</a:t>
            </a:r>
            <a:br>
              <a:rPr sz="800"/>
            </a:br>
            <a:r>
              <a:rPr sz="800"/>
              <a:t>с fallback</a:t>
            </a:r>
          </a:p>
        </p:txBody>
      </p:sp>
      <p:sp>
        <p:nvSpPr>
          <p:cNvPr id="51" name="Rounded Rectangle 36">
            <a:extLst>
              <a:ext uri="{FF2B5EF4-FFF2-40B4-BE49-F238E27FC236}">
                <a16:creationId xmlns:a16="http://schemas.microsoft.com/office/drawing/2014/main" id="{24A643D9-A87F-AADA-CC69-D321FD03F066}"/>
              </a:ext>
            </a:extLst>
          </p:cNvPr>
          <p:cNvSpPr/>
          <p:nvPr/>
        </p:nvSpPr>
        <p:spPr>
          <a:xfrm>
            <a:off x="10865105" y="2356587"/>
            <a:ext cx="1033272" cy="1383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BAD5B22-E8FA-CB9A-E595-0B29ACDFF55D}"/>
              </a:ext>
            </a:extLst>
          </p:cNvPr>
          <p:cNvSpPr/>
          <p:nvPr/>
        </p:nvSpPr>
        <p:spPr>
          <a:xfrm>
            <a:off x="11212577" y="2187688"/>
            <a:ext cx="310896" cy="310896"/>
          </a:xfrm>
          <a:prstGeom prst="ellipse">
            <a:avLst/>
          </a:prstGeom>
          <a:solidFill>
            <a:srgbClr val="3278BE"/>
          </a:solidFill>
          <a:ln>
            <a:solidFill>
              <a:srgbClr val="32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3356CA9-8E07-1CAF-6652-6A42C71DA672}"/>
              </a:ext>
            </a:extLst>
          </p:cNvPr>
          <p:cNvSpPr txBox="1"/>
          <p:nvPr/>
        </p:nvSpPr>
        <p:spPr>
          <a:xfrm>
            <a:off x="10865107" y="2548245"/>
            <a:ext cx="1033272" cy="17449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150" b="1">
                <a:solidFill>
                  <a:srgbClr val="0A122A"/>
                </a:solidFill>
                <a:latin typeface="Aptos"/>
              </a:defRPr>
            </a:pPr>
            <a:r>
              <a:rPr sz="900"/>
              <a:t>Ableton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C7F261F-2EC0-14DC-6808-8A29080CC170}"/>
              </a:ext>
            </a:extLst>
          </p:cNvPr>
          <p:cNvSpPr txBox="1"/>
          <p:nvPr/>
        </p:nvSpPr>
        <p:spPr>
          <a:xfrm>
            <a:off x="10928097" y="3200614"/>
            <a:ext cx="909320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840" b="0">
                <a:solidFill>
                  <a:srgbClr val="374158"/>
                </a:solidFill>
                <a:latin typeface="Aptos"/>
              </a:defRPr>
            </a:pPr>
            <a:r>
              <a:rPr sz="800" dirty="0" err="1"/>
              <a:t>демо</a:t>
            </a:r>
            <a:r>
              <a:rPr sz="800" dirty="0"/>
              <a:t>: MIDI-</a:t>
            </a:r>
            <a:r>
              <a:rPr sz="800" dirty="0" err="1"/>
              <a:t>клипы</a:t>
            </a:r>
            <a:br>
              <a:rPr sz="800" dirty="0"/>
            </a:br>
            <a:r>
              <a:rPr sz="800" dirty="0"/>
              <a:t>и </a:t>
            </a:r>
            <a:r>
              <a:rPr sz="800" dirty="0" err="1"/>
              <a:t>прослушивание</a:t>
            </a:r>
            <a:endParaRPr sz="800" dirty="0"/>
          </a:p>
        </p:txBody>
      </p:sp>
      <p:cxnSp>
        <p:nvCxnSpPr>
          <p:cNvPr id="55" name="Connector 40">
            <a:extLst>
              <a:ext uri="{FF2B5EF4-FFF2-40B4-BE49-F238E27FC236}">
                <a16:creationId xmlns:a16="http://schemas.microsoft.com/office/drawing/2014/main" id="{A5AC91BD-AE96-5854-1110-4EFB196B083C}"/>
              </a:ext>
            </a:extLst>
          </p:cNvPr>
          <p:cNvCxnSpPr/>
          <p:nvPr/>
        </p:nvCxnSpPr>
        <p:spPr>
          <a:xfrm>
            <a:off x="1316735" y="2879825"/>
            <a:ext cx="109728" cy="0"/>
          </a:xfrm>
          <a:prstGeom prst="line">
            <a:avLst/>
          </a:prstGeom>
          <a:ln w="22860">
            <a:solidFill>
              <a:srgbClr val="505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41">
            <a:extLst>
              <a:ext uri="{FF2B5EF4-FFF2-40B4-BE49-F238E27FC236}">
                <a16:creationId xmlns:a16="http://schemas.microsoft.com/office/drawing/2014/main" id="{62D8A48B-3676-B6A4-F8FB-EE71289F3548}"/>
              </a:ext>
            </a:extLst>
          </p:cNvPr>
          <p:cNvCxnSpPr/>
          <p:nvPr/>
        </p:nvCxnSpPr>
        <p:spPr>
          <a:xfrm>
            <a:off x="2647188" y="2876935"/>
            <a:ext cx="109728" cy="0"/>
          </a:xfrm>
          <a:prstGeom prst="line">
            <a:avLst/>
          </a:prstGeom>
          <a:ln w="22860">
            <a:solidFill>
              <a:srgbClr val="505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42">
            <a:extLst>
              <a:ext uri="{FF2B5EF4-FFF2-40B4-BE49-F238E27FC236}">
                <a16:creationId xmlns:a16="http://schemas.microsoft.com/office/drawing/2014/main" id="{3EBA5FB6-A4BC-46C2-5FB6-2D8E23FD5DA3}"/>
              </a:ext>
            </a:extLst>
          </p:cNvPr>
          <p:cNvCxnSpPr/>
          <p:nvPr/>
        </p:nvCxnSpPr>
        <p:spPr>
          <a:xfrm>
            <a:off x="3985258" y="2841507"/>
            <a:ext cx="109729" cy="0"/>
          </a:xfrm>
          <a:prstGeom prst="line">
            <a:avLst/>
          </a:prstGeom>
          <a:ln w="22860">
            <a:solidFill>
              <a:srgbClr val="505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43">
            <a:extLst>
              <a:ext uri="{FF2B5EF4-FFF2-40B4-BE49-F238E27FC236}">
                <a16:creationId xmlns:a16="http://schemas.microsoft.com/office/drawing/2014/main" id="{B314A01C-CBE5-9BD8-2213-11B5F6F1D803}"/>
              </a:ext>
            </a:extLst>
          </p:cNvPr>
          <p:cNvCxnSpPr/>
          <p:nvPr/>
        </p:nvCxnSpPr>
        <p:spPr>
          <a:xfrm>
            <a:off x="5323328" y="2836647"/>
            <a:ext cx="109728" cy="0"/>
          </a:xfrm>
          <a:prstGeom prst="line">
            <a:avLst/>
          </a:prstGeom>
          <a:ln w="22860">
            <a:solidFill>
              <a:srgbClr val="505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45">
            <a:extLst>
              <a:ext uri="{FF2B5EF4-FFF2-40B4-BE49-F238E27FC236}">
                <a16:creationId xmlns:a16="http://schemas.microsoft.com/office/drawing/2014/main" id="{D45F901B-DE60-C9C5-32BC-077C2CA75763}"/>
              </a:ext>
            </a:extLst>
          </p:cNvPr>
          <p:cNvCxnSpPr/>
          <p:nvPr/>
        </p:nvCxnSpPr>
        <p:spPr>
          <a:xfrm>
            <a:off x="7997950" y="2841507"/>
            <a:ext cx="109728" cy="0"/>
          </a:xfrm>
          <a:prstGeom prst="line">
            <a:avLst/>
          </a:prstGeom>
          <a:ln w="22860">
            <a:solidFill>
              <a:srgbClr val="505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46">
            <a:extLst>
              <a:ext uri="{FF2B5EF4-FFF2-40B4-BE49-F238E27FC236}">
                <a16:creationId xmlns:a16="http://schemas.microsoft.com/office/drawing/2014/main" id="{5309829D-7397-EBE8-BD62-4673CB564F1D}"/>
              </a:ext>
            </a:extLst>
          </p:cNvPr>
          <p:cNvCxnSpPr/>
          <p:nvPr/>
        </p:nvCxnSpPr>
        <p:spPr>
          <a:xfrm>
            <a:off x="9330944" y="2836647"/>
            <a:ext cx="109728" cy="0"/>
          </a:xfrm>
          <a:prstGeom prst="line">
            <a:avLst/>
          </a:prstGeom>
          <a:ln w="22860">
            <a:solidFill>
              <a:srgbClr val="505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47">
            <a:extLst>
              <a:ext uri="{FF2B5EF4-FFF2-40B4-BE49-F238E27FC236}">
                <a16:creationId xmlns:a16="http://schemas.microsoft.com/office/drawing/2014/main" id="{1A74990A-3E0D-45EC-E704-074C45BCD9B6}"/>
              </a:ext>
            </a:extLst>
          </p:cNvPr>
          <p:cNvCxnSpPr/>
          <p:nvPr/>
        </p:nvCxnSpPr>
        <p:spPr>
          <a:xfrm>
            <a:off x="10663938" y="2836647"/>
            <a:ext cx="109728" cy="0"/>
          </a:xfrm>
          <a:prstGeom prst="line">
            <a:avLst/>
          </a:prstGeom>
          <a:ln w="22860">
            <a:solidFill>
              <a:srgbClr val="505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43">
            <a:extLst>
              <a:ext uri="{FF2B5EF4-FFF2-40B4-BE49-F238E27FC236}">
                <a16:creationId xmlns:a16="http://schemas.microsoft.com/office/drawing/2014/main" id="{816E4516-6C89-9684-829B-48334AFF2167}"/>
              </a:ext>
            </a:extLst>
          </p:cNvPr>
          <p:cNvCxnSpPr/>
          <p:nvPr/>
        </p:nvCxnSpPr>
        <p:spPr>
          <a:xfrm>
            <a:off x="6664955" y="2829901"/>
            <a:ext cx="109728" cy="0"/>
          </a:xfrm>
          <a:prstGeom prst="line">
            <a:avLst/>
          </a:prstGeom>
          <a:ln w="22860">
            <a:solidFill>
              <a:srgbClr val="505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" name="Picture 71" descr="A file with a red label&#10;&#10;AI-generated content may be incorrect.">
            <a:extLst>
              <a:ext uri="{FF2B5EF4-FFF2-40B4-BE49-F238E27FC236}">
                <a16:creationId xmlns:a16="http://schemas.microsoft.com/office/drawing/2014/main" id="{CD9309A2-9B1E-BC3A-23BF-EA0624CDE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416" y="2812742"/>
            <a:ext cx="442539" cy="442539"/>
          </a:xfrm>
          <a:prstGeom prst="rect">
            <a:avLst/>
          </a:prstGeom>
        </p:spPr>
      </p:pic>
      <p:pic>
        <p:nvPicPr>
          <p:cNvPr id="74" name="Picture 73" descr="A picture of mountains and sun&#10;&#10;AI-generated content may be incorrect.">
            <a:extLst>
              <a:ext uri="{FF2B5EF4-FFF2-40B4-BE49-F238E27FC236}">
                <a16:creationId xmlns:a16="http://schemas.microsoft.com/office/drawing/2014/main" id="{641EF50D-C7B3-4ABB-5BCF-7B28DD9967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2493" y="2841507"/>
            <a:ext cx="416659" cy="416659"/>
          </a:xfrm>
          <a:prstGeom prst="rect">
            <a:avLst/>
          </a:prstGeom>
        </p:spPr>
      </p:pic>
      <p:pic>
        <p:nvPicPr>
          <p:cNvPr id="76" name="Picture 7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1EB5DA6-E97E-AAF8-8676-2514395F7A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8083" y="2826634"/>
            <a:ext cx="382211" cy="382211"/>
          </a:xfrm>
          <a:prstGeom prst="rect">
            <a:avLst/>
          </a:prstGeom>
        </p:spPr>
      </p:pic>
      <p:pic>
        <p:nvPicPr>
          <p:cNvPr id="80" name="Picture 7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CB55C10-0C55-C837-BFCE-3D11D91796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4553713" y="2822130"/>
            <a:ext cx="337626" cy="337626"/>
          </a:xfrm>
          <a:prstGeom prst="rect">
            <a:avLst/>
          </a:prstGeom>
        </p:spPr>
      </p:pic>
      <p:pic>
        <p:nvPicPr>
          <p:cNvPr id="82" name="Picture 8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F4B8B52-7C63-6BE6-9A91-4A00C547E0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7573" y="2691995"/>
            <a:ext cx="556966" cy="556966"/>
          </a:xfrm>
          <a:prstGeom prst="rect">
            <a:avLst/>
          </a:prstGeom>
        </p:spPr>
      </p:pic>
      <p:pic>
        <p:nvPicPr>
          <p:cNvPr id="84" name="Picture 8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78F0AF9-EFF5-D116-47C9-0F4D377BC0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6041" y="2798043"/>
            <a:ext cx="278449" cy="278449"/>
          </a:xfrm>
          <a:prstGeom prst="rect">
            <a:avLst/>
          </a:prstGeom>
        </p:spPr>
      </p:pic>
      <p:pic>
        <p:nvPicPr>
          <p:cNvPr id="85" name="Picture 8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73C2134-2F84-6D6A-CF59-B0E10659A9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7115174" y="2748497"/>
            <a:ext cx="479289" cy="479289"/>
          </a:xfrm>
          <a:prstGeom prst="rect">
            <a:avLst/>
          </a:prstGeom>
        </p:spPr>
      </p:pic>
      <p:pic>
        <p:nvPicPr>
          <p:cNvPr id="86" name="Picture 8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919FF89-8F5E-843E-95D4-BA0555E63B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06530" y="2698566"/>
            <a:ext cx="526223" cy="526223"/>
          </a:xfrm>
          <a:prstGeom prst="rect">
            <a:avLst/>
          </a:prstGeom>
        </p:spPr>
      </p:pic>
      <p:pic>
        <p:nvPicPr>
          <p:cNvPr id="88" name="Picture 8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742CD2F-A5A2-5753-4A54-1586344811A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22501" y="2739104"/>
            <a:ext cx="718480" cy="4041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72B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Качество детектора нотных страниц</a:t>
            </a:r>
            <a:endParaRPr lang="en-US" sz="2500" dirty="0">
              <a:solidFill>
                <a:srgbClr val="0072BC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9875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Метрики на 434 валидированных страницах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16002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0.9816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1856232"/>
            <a:ext cx="1600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Accuracy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0" y="1417320"/>
            <a:ext cx="16002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0.9800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0" y="1856232"/>
            <a:ext cx="1600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Precision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00600" y="1417320"/>
            <a:ext cx="16002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</a:rPr>
              <a:t>1.0000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00600" y="1856232"/>
            <a:ext cx="1600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Recall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0" y="1417320"/>
            <a:ext cx="16002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0.9899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8000" y="1856232"/>
            <a:ext cx="1600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F1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Confusion matrix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3246120"/>
            <a:ext cx="18288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</a:rPr>
              <a:t>Actual / Predicted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51760" y="3246120"/>
            <a:ext cx="16002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</a:rPr>
              <a:t>non-music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51960" y="3246120"/>
            <a:ext cx="16002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</a:rPr>
              <a:t>music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352044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non-music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3520440"/>
            <a:ext cx="1600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</a:rPr>
              <a:t>TN = 34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51960" y="3520440"/>
            <a:ext cx="1600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FP = 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8496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music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51760" y="3849624"/>
            <a:ext cx="1600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</a:rPr>
              <a:t>FN = 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51960" y="3849624"/>
            <a:ext cx="1600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</a:rPr>
              <a:t>TP = 392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3291840"/>
            <a:ext cx="4206240" cy="640080"/>
          </a:xfrm>
          <a:prstGeom prst="rect">
            <a:avLst/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</a:rPr>
              <a:t>Главный вывод: FN = 0 на текущей выборке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03720" y="4160520"/>
            <a:ext cx="42062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</a:rPr>
              <a:t>Основная ошибка — false positive: лишние страницы можно отсеять ручной проверкой.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652760" y="6446520"/>
            <a:ext cx="105156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5/8</a:t>
            </a:r>
            <a:endParaRPr lang="en-US" sz="800" dirty="0"/>
          </a:p>
        </p:txBody>
      </p:sp>
      <p:pic>
        <p:nvPicPr>
          <p:cNvPr id="27" name="image1.jpg">
            <a:extLst>
              <a:ext uri="{FF2B5EF4-FFF2-40B4-BE49-F238E27FC236}">
                <a16:creationId xmlns:a16="http://schemas.microsoft.com/office/drawing/2014/main" id="{10033F7E-DEF2-E3F9-C32A-82034739718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26280" y="6213378"/>
            <a:ext cx="621059" cy="497200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Shape 14">
            <a:extLst>
              <a:ext uri="{FF2B5EF4-FFF2-40B4-BE49-F238E27FC236}">
                <a16:creationId xmlns:a16="http://schemas.microsoft.com/office/drawing/2014/main" id="{6D99D94F-2D22-21C5-50A5-6CFD028D612E}"/>
              </a:ext>
            </a:extLst>
          </p:cNvPr>
          <p:cNvSpPr/>
          <p:nvPr/>
        </p:nvSpPr>
        <p:spPr>
          <a:xfrm>
            <a:off x="832312" y="6323478"/>
            <a:ext cx="507417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500">
                <a:solidFill>
                  <a:srgbClr val="535353"/>
                </a:solidFill>
              </a:defRPr>
            </a:lvl1pPr>
          </a:lstStyle>
          <a:p>
            <a:r>
              <a:rPr lang="en-US" sz="1200" b="1" dirty="0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NoteVision</a:t>
            </a:r>
            <a:r>
              <a:rPr lang="en-US" sz="1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OMR</a:t>
            </a:r>
            <a:r>
              <a:rPr lang="ru-RU" sz="1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Анализ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сканированных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нотных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документов</a:t>
            </a:r>
            <a:r>
              <a:rPr lang="en-US" sz="1200" dirty="0">
                <a:solidFill>
                  <a:srgbClr val="64748B"/>
                </a:solidFill>
              </a:rPr>
              <a:t> РГБ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720477" cy="437043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2600" b="1">
                <a:solidFill>
                  <a:srgbClr val="0A122A"/>
                </a:solidFill>
                <a:latin typeface="Aptos"/>
              </a:defRPr>
            </a:pPr>
            <a:r>
              <a:rPr dirty="0">
                <a:solidFill>
                  <a:srgbClr val="0072BC"/>
                </a:solidFill>
              </a:rPr>
              <a:t>OMR: </a:t>
            </a:r>
            <a:r>
              <a:rPr dirty="0" err="1">
                <a:solidFill>
                  <a:srgbClr val="0072BC"/>
                </a:solidFill>
              </a:rPr>
              <a:t>почему</a:t>
            </a:r>
            <a:r>
              <a:rPr dirty="0">
                <a:solidFill>
                  <a:srgbClr val="0072BC"/>
                </a:solidFill>
              </a:rPr>
              <a:t> </a:t>
            </a:r>
            <a:r>
              <a:rPr dirty="0" err="1">
                <a:solidFill>
                  <a:srgbClr val="0072BC"/>
                </a:solidFill>
              </a:rPr>
              <a:t>понадобилось</a:t>
            </a:r>
            <a:r>
              <a:rPr dirty="0">
                <a:solidFill>
                  <a:srgbClr val="0072BC"/>
                </a:solidFill>
              </a:rPr>
              <a:t> 300 DPI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1064240" cy="2743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200" b="0">
                <a:solidFill>
                  <a:srgbClr val="546078"/>
                </a:solidFill>
                <a:latin typeface="Aptos"/>
              </a:defRPr>
            </a:pPr>
            <a:r>
              <a:t>Сравнение технической устойчивости Audiveris на 200 DPI и 300 DPI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73952"/>
            <a:ext cx="1600200" cy="164592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0">
                <a:solidFill>
                  <a:srgbClr val="6E788C"/>
                </a:solidFill>
                <a:latin typeface="Aptos"/>
              </a:defRPr>
            </a:pPr>
            <a:r>
              <a:t>NoteVision OMR · 6/8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5257800" cy="2697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4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207008"/>
            <a:ext cx="5257800" cy="411480"/>
          </a:xfrm>
          <a:prstGeom prst="roundRect">
            <a:avLst/>
          </a:prstGeom>
          <a:solidFill>
            <a:srgbClr val="DC412B"/>
          </a:solidFill>
          <a:ln>
            <a:solidFill>
              <a:srgbClr val="DC4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307592"/>
            <a:ext cx="5111496" cy="18288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200 DPI: бинарные страницы</a:t>
            </a:r>
          </a:p>
        </p:txBody>
      </p:sp>
      <p:sp>
        <p:nvSpPr>
          <p:cNvPr id="8" name="Oval 7"/>
          <p:cNvSpPr/>
          <p:nvPr/>
        </p:nvSpPr>
        <p:spPr>
          <a:xfrm>
            <a:off x="978408" y="1984248"/>
            <a:ext cx="658368" cy="658368"/>
          </a:xfrm>
          <a:prstGeom prst="ellipse">
            <a:avLst/>
          </a:prstGeom>
          <a:solidFill>
            <a:srgbClr val="DC412B"/>
          </a:solidFill>
          <a:ln>
            <a:solidFill>
              <a:srgbClr val="DC4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47088"/>
            <a:ext cx="3657600" cy="9601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700" b="1">
                <a:solidFill>
                  <a:srgbClr val="0A122A"/>
                </a:solidFill>
                <a:latin typeface="Aptos"/>
              </a:defRPr>
            </a:pPr>
            <a:r>
              <a:t>Успешно: 6</a:t>
            </a:r>
            <a:br/>
            <a:r>
              <a:t>Ошибки: 4</a:t>
            </a:r>
            <a:br/>
            <a:r>
              <a:t>Успешность: 60%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962656"/>
            <a:ext cx="4617720" cy="0"/>
          </a:xfrm>
          <a:prstGeom prst="line">
            <a:avLst/>
          </a:prstGeom>
          <a:ln w="1270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8408" y="3108960"/>
            <a:ext cx="4553712" cy="3600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050" b="0">
                <a:solidFill>
                  <a:srgbClr val="2D3752"/>
                </a:solidFill>
                <a:latin typeface="Aptos"/>
              </a:defRPr>
            </a:pPr>
            <a:r>
              <a:rPr dirty="0" err="1"/>
              <a:t>Audiveris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завершался</a:t>
            </a:r>
            <a:r>
              <a:rPr dirty="0"/>
              <a:t> с </a:t>
            </a:r>
            <a:r>
              <a:rPr dirty="0" err="1"/>
              <a:t>ошибкой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этапе</a:t>
            </a:r>
            <a:r>
              <a:rPr dirty="0"/>
              <a:t> PAGE: interline </a:t>
            </a:r>
            <a:endParaRPr lang="ru-RU" dirty="0"/>
          </a:p>
          <a:p>
            <a:pPr algn="ctr">
              <a:defRPr sz="1050" b="0">
                <a:solidFill>
                  <a:srgbClr val="2D3752"/>
                </a:solidFill>
                <a:latin typeface="Aptos"/>
              </a:defRPr>
            </a:pPr>
            <a:r>
              <a:rPr dirty="0" err="1"/>
              <a:t>был</a:t>
            </a:r>
            <a:r>
              <a:rPr dirty="0"/>
              <a:t> </a:t>
            </a:r>
            <a:r>
              <a:rPr dirty="0" err="1"/>
              <a:t>слишком</a:t>
            </a:r>
            <a:r>
              <a:rPr dirty="0"/>
              <a:t> </a:t>
            </a:r>
            <a:r>
              <a:rPr dirty="0" err="1"/>
              <a:t>маленьким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07008"/>
            <a:ext cx="5257800" cy="2697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09360" y="1207008"/>
            <a:ext cx="5257800" cy="411480"/>
          </a:xfrm>
          <a:prstGeom prst="roundRect">
            <a:avLst/>
          </a:prstGeom>
          <a:solidFill>
            <a:srgbClr val="149650"/>
          </a:solidFill>
          <a:ln>
            <a:solidFill>
              <a:srgbClr val="14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307592"/>
            <a:ext cx="5111496" cy="18288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300 DPI: исходные страницы для OMR</a:t>
            </a:r>
          </a:p>
        </p:txBody>
      </p:sp>
      <p:sp>
        <p:nvSpPr>
          <p:cNvPr id="15" name="Oval 14"/>
          <p:cNvSpPr/>
          <p:nvPr/>
        </p:nvSpPr>
        <p:spPr>
          <a:xfrm>
            <a:off x="6693408" y="1984248"/>
            <a:ext cx="658368" cy="658368"/>
          </a:xfrm>
          <a:prstGeom prst="ellipse">
            <a:avLst/>
          </a:prstGeom>
          <a:solidFill>
            <a:srgbClr val="149650"/>
          </a:solidFill>
          <a:ln>
            <a:solidFill>
              <a:srgbClr val="14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847088"/>
            <a:ext cx="3657600" cy="9601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700" b="1">
                <a:solidFill>
                  <a:srgbClr val="0A122A"/>
                </a:solidFill>
                <a:latin typeface="Aptos"/>
              </a:defRPr>
            </a:pPr>
            <a:r>
              <a:t>Успешно: 50</a:t>
            </a:r>
            <a:br/>
            <a:r>
              <a:t>Ошибки: 0</a:t>
            </a:r>
            <a:br/>
            <a:r>
              <a:t>Успешность: 100%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629400" y="2962656"/>
            <a:ext cx="4617720" cy="0"/>
          </a:xfrm>
          <a:prstGeom prst="line">
            <a:avLst/>
          </a:prstGeom>
          <a:ln w="1270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693408" y="3108960"/>
            <a:ext cx="4553712" cy="3600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050" b="0">
                <a:solidFill>
                  <a:srgbClr val="2D3752"/>
                </a:solidFill>
                <a:latin typeface="Aptos"/>
              </a:defRPr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отдельного</a:t>
            </a:r>
            <a:r>
              <a:rPr dirty="0"/>
              <a:t> </a:t>
            </a:r>
            <a:r>
              <a:rPr dirty="0" err="1"/>
              <a:t>извлечения</a:t>
            </a:r>
            <a:r>
              <a:rPr dirty="0"/>
              <a:t> </a:t>
            </a:r>
            <a:r>
              <a:rPr dirty="0" err="1"/>
              <a:t>страниц</a:t>
            </a:r>
            <a:r>
              <a:rPr dirty="0"/>
              <a:t> в 300 DPI </a:t>
            </a:r>
            <a:endParaRPr lang="ru-RU" dirty="0"/>
          </a:p>
          <a:p>
            <a:pPr algn="ctr">
              <a:defRPr sz="1050" b="0">
                <a:solidFill>
                  <a:srgbClr val="2D3752"/>
                </a:solidFill>
                <a:latin typeface="Aptos"/>
              </a:defRPr>
            </a:pPr>
            <a:r>
              <a:rPr dirty="0" err="1"/>
              <a:t>все</a:t>
            </a:r>
            <a:r>
              <a:rPr dirty="0"/>
              <a:t> 50 </a:t>
            </a:r>
            <a:r>
              <a:rPr dirty="0" err="1"/>
              <a:t>кандидатов</a:t>
            </a:r>
            <a:r>
              <a:rPr dirty="0"/>
              <a:t> </a:t>
            </a:r>
            <a:r>
              <a:rPr dirty="0" err="1"/>
              <a:t>обработаны</a:t>
            </a:r>
            <a:r>
              <a:rPr dirty="0"/>
              <a:t> </a:t>
            </a:r>
            <a:r>
              <a:rPr dirty="0" err="1"/>
              <a:t>технически</a:t>
            </a:r>
            <a:r>
              <a:rPr dirty="0"/>
              <a:t> </a:t>
            </a:r>
            <a:r>
              <a:rPr dirty="0" err="1"/>
              <a:t>успешно</a:t>
            </a:r>
            <a:r>
              <a:rPr dirty="0"/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60520"/>
            <a:ext cx="10789920" cy="201168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300" b="1">
                <a:solidFill>
                  <a:srgbClr val="1C2644"/>
                </a:solidFill>
                <a:latin typeface="Aptos"/>
              </a:defRPr>
            </a:pPr>
            <a:r>
              <a:t>Успешно обработано OMR-кандидатов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90288"/>
            <a:ext cx="914400" cy="18288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1200" b="1">
                <a:solidFill>
                  <a:srgbClr val="DC412B"/>
                </a:solidFill>
                <a:latin typeface="Aptos"/>
              </a:defRPr>
            </a:pPr>
            <a:r>
              <a:t>200 DPI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7400" y="4572000"/>
            <a:ext cx="3657600" cy="228600"/>
          </a:xfrm>
          <a:prstGeom prst="roundRect">
            <a:avLst/>
          </a:prstGeom>
          <a:solidFill>
            <a:srgbClr val="EBEBEB"/>
          </a:solidFill>
          <a:ln w="635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057400" y="4572000"/>
            <a:ext cx="2194560" cy="228600"/>
          </a:xfrm>
          <a:prstGeom prst="roundRect">
            <a:avLst/>
          </a:prstGeom>
          <a:solidFill>
            <a:srgbClr val="DC412B"/>
          </a:solidFill>
          <a:ln w="6350">
            <a:solidFill>
              <a:srgbClr val="DC4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61488" y="4604004"/>
            <a:ext cx="685800" cy="109728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6/10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590288"/>
            <a:ext cx="914400" cy="18288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1200" b="1">
                <a:solidFill>
                  <a:srgbClr val="149650"/>
                </a:solidFill>
                <a:latin typeface="Aptos"/>
              </a:defRPr>
            </a:pPr>
            <a:r>
              <a:t>300 DPI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4572000"/>
            <a:ext cx="3657600" cy="228600"/>
          </a:xfrm>
          <a:prstGeom prst="roundRect">
            <a:avLst/>
          </a:prstGeom>
          <a:solidFill>
            <a:srgbClr val="EBEBEB"/>
          </a:solidFill>
          <a:ln w="635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543800" y="4572000"/>
            <a:ext cx="3657600" cy="228600"/>
          </a:xfrm>
          <a:prstGeom prst="roundRect">
            <a:avLst/>
          </a:prstGeom>
          <a:solidFill>
            <a:srgbClr val="149650"/>
          </a:solidFill>
          <a:ln w="6350">
            <a:solidFill>
              <a:srgbClr val="14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06840" y="4604004"/>
            <a:ext cx="685800" cy="109728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50/50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5230368"/>
            <a:ext cx="10561320" cy="603504"/>
          </a:xfrm>
          <a:prstGeom prst="roundRect">
            <a:avLst/>
          </a:prstGeom>
          <a:solidFill>
            <a:srgbClr val="F5F9FF"/>
          </a:solidFill>
          <a:ln w="15240">
            <a:solidFill>
              <a:srgbClr val="5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1560" y="5321808"/>
            <a:ext cx="10195560" cy="329184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>
              <a:defRPr sz="1080" b="1">
                <a:solidFill>
                  <a:srgbClr val="143764"/>
                </a:solidFill>
                <a:latin typeface="Aptos"/>
              </a:defRPr>
            </a:pPr>
            <a:r>
              <a:rPr dirty="0" err="1"/>
              <a:t>Вывод</a:t>
            </a:r>
            <a:r>
              <a:rPr dirty="0"/>
              <a:t>: </a:t>
            </a:r>
            <a:r>
              <a:rPr dirty="0" err="1"/>
              <a:t>для</a:t>
            </a:r>
            <a:r>
              <a:rPr dirty="0"/>
              <a:t> OMR </a:t>
            </a:r>
            <a:r>
              <a:rPr dirty="0" err="1"/>
              <a:t>используем</a:t>
            </a:r>
            <a:r>
              <a:rPr dirty="0"/>
              <a:t> </a:t>
            </a:r>
            <a:r>
              <a:rPr dirty="0" err="1"/>
              <a:t>отдельное</a:t>
            </a:r>
            <a:r>
              <a:rPr dirty="0"/>
              <a:t> </a:t>
            </a:r>
            <a:r>
              <a:rPr dirty="0" err="1"/>
              <a:t>извлечение</a:t>
            </a:r>
            <a:r>
              <a:rPr dirty="0"/>
              <a:t> </a:t>
            </a:r>
            <a:r>
              <a:rPr dirty="0" err="1"/>
              <a:t>исходных</a:t>
            </a:r>
            <a:r>
              <a:rPr dirty="0"/>
              <a:t> </a:t>
            </a:r>
            <a:r>
              <a:rPr dirty="0" err="1"/>
              <a:t>страниц</a:t>
            </a:r>
            <a:r>
              <a:rPr dirty="0"/>
              <a:t> в 300 DPI.</a:t>
            </a:r>
            <a:br>
              <a:rPr dirty="0"/>
            </a:br>
            <a:r>
              <a:rPr dirty="0" err="1"/>
              <a:t>Бинарные</a:t>
            </a:r>
            <a:r>
              <a:rPr dirty="0"/>
              <a:t> </a:t>
            </a:r>
            <a:r>
              <a:rPr dirty="0" err="1"/>
              <a:t>изображения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предобработки</a:t>
            </a:r>
            <a:r>
              <a:rPr dirty="0"/>
              <a:t> </a:t>
            </a:r>
            <a:r>
              <a:rPr dirty="0" err="1"/>
              <a:t>хуже</a:t>
            </a:r>
            <a:r>
              <a:rPr dirty="0"/>
              <a:t> </a:t>
            </a:r>
            <a:r>
              <a:rPr dirty="0" err="1"/>
              <a:t>подходят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Audiveris</a:t>
            </a:r>
            <a:r>
              <a:rPr dirty="0"/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981391"/>
            <a:ext cx="9966960" cy="11887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>
              <a:defRPr sz="810" b="0">
                <a:solidFill>
                  <a:srgbClr val="62697C"/>
                </a:solidFill>
                <a:latin typeface="Aptos"/>
              </a:defRPr>
            </a:pPr>
            <a:r>
              <a:rPr dirty="0" err="1"/>
              <a:t>Пустые</a:t>
            </a:r>
            <a:r>
              <a:rPr dirty="0"/>
              <a:t> </a:t>
            </a:r>
            <a:r>
              <a:rPr dirty="0" err="1"/>
              <a:t>страницы</a:t>
            </a:r>
            <a:r>
              <a:rPr dirty="0"/>
              <a:t> </a:t>
            </a:r>
            <a:r>
              <a:rPr dirty="0" err="1"/>
              <a:t>исключаются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ручной</a:t>
            </a:r>
            <a:r>
              <a:rPr dirty="0"/>
              <a:t> </a:t>
            </a:r>
            <a:r>
              <a:rPr dirty="0" err="1"/>
              <a:t>валидации</a:t>
            </a:r>
            <a:r>
              <a:rPr dirty="0"/>
              <a:t>; technical success ≠ </a:t>
            </a:r>
            <a:r>
              <a:rPr dirty="0" err="1"/>
              <a:t>музыкальная</a:t>
            </a:r>
            <a:r>
              <a:rPr dirty="0"/>
              <a:t> </a:t>
            </a:r>
            <a:r>
              <a:rPr dirty="0" err="1"/>
              <a:t>точность</a:t>
            </a:r>
            <a:r>
              <a:rPr dirty="0"/>
              <a:t>.</a:t>
            </a:r>
          </a:p>
        </p:txBody>
      </p:sp>
      <p:pic>
        <p:nvPicPr>
          <p:cNvPr id="31" name="image1.jpg">
            <a:extLst>
              <a:ext uri="{FF2B5EF4-FFF2-40B4-BE49-F238E27FC236}">
                <a16:creationId xmlns:a16="http://schemas.microsoft.com/office/drawing/2014/main" id="{8A5ABAB6-4AD7-30E5-4AF4-E80ED95D1B3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26280" y="6213378"/>
            <a:ext cx="621059" cy="497200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Shape 14">
            <a:extLst>
              <a:ext uri="{FF2B5EF4-FFF2-40B4-BE49-F238E27FC236}">
                <a16:creationId xmlns:a16="http://schemas.microsoft.com/office/drawing/2014/main" id="{04F28C05-5CBE-011F-C0C1-452B4B60899D}"/>
              </a:ext>
            </a:extLst>
          </p:cNvPr>
          <p:cNvSpPr/>
          <p:nvPr/>
        </p:nvSpPr>
        <p:spPr>
          <a:xfrm>
            <a:off x="832312" y="6323478"/>
            <a:ext cx="507417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500">
                <a:solidFill>
                  <a:srgbClr val="535353"/>
                </a:solidFill>
              </a:defRPr>
            </a:lvl1pPr>
          </a:lstStyle>
          <a:p>
            <a:r>
              <a:rPr lang="en-US" sz="1200" b="1" dirty="0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NoteVision</a:t>
            </a:r>
            <a:r>
              <a:rPr lang="en-US" sz="1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OMR</a:t>
            </a:r>
            <a:r>
              <a:rPr lang="ru-RU" sz="1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Анализ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сканированных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нотных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документов</a:t>
            </a:r>
            <a:r>
              <a:rPr lang="en-US" sz="1200" dirty="0">
                <a:solidFill>
                  <a:srgbClr val="64748B"/>
                </a:solidFill>
              </a:rPr>
              <a:t> РГБ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72B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MXL → MIDI → Ableton</a:t>
            </a:r>
            <a:endParaRPr lang="en-US" sz="2500" dirty="0">
              <a:solidFill>
                <a:srgbClr val="0072BC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9875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Проверка практического использования результата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Batch MXL → MIDI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365760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</a:rPr>
              <a:t>• 10 success / 0 failed
• 1 файл: режим no_repeats
• MIDI импортирован в Ableton
• демо: 5–10 секунд воспроизведения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794760"/>
            <a:ext cx="43891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F172A"/>
                </a:solidFill>
              </a:rPr>
              <a:t>PDF/MRC  →  pages  →  detector  →  labels  →  OMR candidates  →  300 DPI  →  Audiveris  →  MXL  →  music21  →  MIDI  →  Ableton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777240" y="4892040"/>
            <a:ext cx="4480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Важно: MIDI импортируется технически, но музыкальную точность надо проверять экспертно.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52760" y="6446520"/>
            <a:ext cx="105156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7/8</a:t>
            </a:r>
            <a:endParaRPr lang="en-US" sz="800" dirty="0"/>
          </a:p>
        </p:txBody>
      </p:sp>
      <p:pic>
        <p:nvPicPr>
          <p:cNvPr id="12" name="image1.jpg">
            <a:extLst>
              <a:ext uri="{FF2B5EF4-FFF2-40B4-BE49-F238E27FC236}">
                <a16:creationId xmlns:a16="http://schemas.microsoft.com/office/drawing/2014/main" id="{85DDC04A-4610-A913-2AA2-399687187EB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26280" y="6213378"/>
            <a:ext cx="621059" cy="49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Shape 14">
            <a:extLst>
              <a:ext uri="{FF2B5EF4-FFF2-40B4-BE49-F238E27FC236}">
                <a16:creationId xmlns:a16="http://schemas.microsoft.com/office/drawing/2014/main" id="{1CE4480C-1C3A-454F-E460-B6A3BF0FAB49}"/>
              </a:ext>
            </a:extLst>
          </p:cNvPr>
          <p:cNvSpPr/>
          <p:nvPr/>
        </p:nvSpPr>
        <p:spPr>
          <a:xfrm>
            <a:off x="832312" y="6323478"/>
            <a:ext cx="507417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500">
                <a:solidFill>
                  <a:srgbClr val="535353"/>
                </a:solidFill>
              </a:defRPr>
            </a:lvl1pPr>
          </a:lstStyle>
          <a:p>
            <a:r>
              <a:rPr lang="en-US" sz="1200" b="1" dirty="0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NoteVision</a:t>
            </a:r>
            <a:r>
              <a:rPr lang="en-US" sz="1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OMR</a:t>
            </a:r>
            <a:r>
              <a:rPr lang="ru-RU" sz="1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Анализ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сканированных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нотных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документов</a:t>
            </a:r>
            <a:r>
              <a:rPr lang="en-US" sz="1200" dirty="0">
                <a:solidFill>
                  <a:srgbClr val="64748B"/>
                </a:solidFill>
              </a:rPr>
              <a:t> РГБ</a:t>
            </a:r>
            <a:endParaRPr lang="en-US" sz="1200" dirty="0"/>
          </a:p>
        </p:txBody>
      </p:sp>
      <p:pic>
        <p:nvPicPr>
          <p:cNvPr id="17" name="Picture 1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92898BE-0D7D-0CB7-5316-D3DF7928C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417320"/>
            <a:ext cx="6679095" cy="37569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72B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Ограничения и развитие</a:t>
            </a:r>
            <a:endParaRPr lang="en-US" sz="2500" dirty="0">
              <a:solidFill>
                <a:srgbClr val="0072BC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9875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MVP работает; качество OMR ещё нужно измерить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4846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</a:rPr>
              <a:t>Ограничения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475488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</a:rPr>
              <a:t>• малый корпус
• частично ручная разметка
• нет symbol-level ground truth
• technical success ≠ музыкальная точность
• правовой режим MXL/MIDI требует проверки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0" y="1417320"/>
            <a:ext cx="4846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</a:rPr>
              <a:t>Roadmap к ВКР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46520" y="1874520"/>
            <a:ext cx="475488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</a:rPr>
              <a:t>• расширить корпус
• экспертно проверить MXL/MIDI
• оценить pitch/duration/voice errors
• сравнить OMR-подходы
• добавить поиск и UI/API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97280" y="4892040"/>
            <a:ext cx="98755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</a:rPr>
              <a:t>MVP показывает полный технический путь от нотного PDF до MIDI.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652760" y="6446520"/>
            <a:ext cx="105156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8/8</a:t>
            </a:r>
            <a:endParaRPr lang="en-US" sz="800" dirty="0"/>
          </a:p>
        </p:txBody>
      </p:sp>
      <p:pic>
        <p:nvPicPr>
          <p:cNvPr id="12" name="image1.jpg">
            <a:extLst>
              <a:ext uri="{FF2B5EF4-FFF2-40B4-BE49-F238E27FC236}">
                <a16:creationId xmlns:a16="http://schemas.microsoft.com/office/drawing/2014/main" id="{85039E06-DBB3-A951-8669-14D20E73124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26280" y="6213378"/>
            <a:ext cx="621059" cy="49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Shape 14">
            <a:extLst>
              <a:ext uri="{FF2B5EF4-FFF2-40B4-BE49-F238E27FC236}">
                <a16:creationId xmlns:a16="http://schemas.microsoft.com/office/drawing/2014/main" id="{203E1AF8-E828-383E-3027-ED882203CA4E}"/>
              </a:ext>
            </a:extLst>
          </p:cNvPr>
          <p:cNvSpPr/>
          <p:nvPr/>
        </p:nvSpPr>
        <p:spPr>
          <a:xfrm>
            <a:off x="832312" y="6323478"/>
            <a:ext cx="507417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500">
                <a:solidFill>
                  <a:srgbClr val="535353"/>
                </a:solidFill>
              </a:defRPr>
            </a:lvl1pPr>
          </a:lstStyle>
          <a:p>
            <a:r>
              <a:rPr lang="en-US" sz="1200" b="1" dirty="0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NoteVision</a:t>
            </a:r>
            <a:r>
              <a:rPr lang="en-US" sz="1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OMR</a:t>
            </a:r>
            <a:r>
              <a:rPr lang="ru-RU" sz="1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Анализ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сканированных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нотных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документов</a:t>
            </a:r>
            <a:r>
              <a:rPr lang="en-US" sz="1200" dirty="0">
                <a:solidFill>
                  <a:srgbClr val="64748B"/>
                </a:solidFill>
              </a:rPr>
              <a:t> РГБ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737</Words>
  <Application>Microsoft Office PowerPoint</Application>
  <PresentationFormat>Widescreen</PresentationFormat>
  <Paragraphs>140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NoteVision OMR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NoteVision OMR</dc:title>
  <dc:subject>Проектный семинар — финальная презентация</dc:subject>
  <dc:creator>Evgeniy Kolesnikov</dc:creator>
  <cp:lastModifiedBy>ek</cp:lastModifiedBy>
  <cp:revision>3</cp:revision>
  <dcterms:created xsi:type="dcterms:W3CDTF">2026-06-07T21:25:45Z</dcterms:created>
  <dcterms:modified xsi:type="dcterms:W3CDTF">2026-06-07T23:09:04Z</dcterms:modified>
</cp:coreProperties>
</file>