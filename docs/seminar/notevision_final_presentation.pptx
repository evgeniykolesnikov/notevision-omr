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5" r:id="rId6"/>
    <p:sldId id="266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4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MXL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Primary OMR</c:v>
                </c:pt>
                <c:pt idx="1">
                  <c:v>+400 DPI резерв</c:v>
                </c:pt>
                <c:pt idx="2">
                  <c:v>+preprocessing резерв</c:v>
                </c:pt>
                <c:pt idx="3">
                  <c:v>Итог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</c:v>
                </c:pt>
                <c:pt idx="1">
                  <c:v>256</c:v>
                </c:pt>
                <c:pt idx="2">
                  <c:v>257</c:v>
                </c:pt>
                <c:pt idx="3">
                  <c:v>257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5A-4D55-AF3C-A37F5429398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MIDI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Primary OMR</c:v>
                </c:pt>
                <c:pt idx="1">
                  <c:v>+400 DPI резерв</c:v>
                </c:pt>
                <c:pt idx="2">
                  <c:v>+preprocessing резерв</c:v>
                </c:pt>
                <c:pt idx="3">
                  <c:v>Итог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239</c:v>
                </c:pt>
                <c:pt idx="1">
                  <c:v>255</c:v>
                </c:pt>
                <c:pt idx="2">
                  <c:v>256</c:v>
                </c:pt>
                <c:pt idx="3">
                  <c:v>256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85A-4D55-AF3C-A37F542939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0297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5760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72B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 OMR</a:t>
            </a:r>
            <a:endParaRPr lang="en-US" sz="3600" dirty="0">
              <a:solidFill>
                <a:srgbClr val="0072BC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7512" y="1207008"/>
            <a:ext cx="6035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</a:rPr>
              <a:t>Анализ сканированных нотных документов РГБ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13232" y="2011680"/>
            <a:ext cx="52120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ru-RU" sz="1600" dirty="0"/>
              <a:t>Проблема:</a:t>
            </a:r>
            <a:br>
              <a:rPr lang="ru-RU" sz="1600" dirty="0"/>
            </a:br>
            <a:r>
              <a:rPr lang="ru-RU" sz="1600" dirty="0"/>
              <a:t>• в корпусе проекта: 51 PDF и 2513 извлечённых страниц;</a:t>
            </a:r>
            <a:br>
              <a:rPr lang="ru-RU" sz="1600" dirty="0"/>
            </a:br>
            <a:r>
              <a:rPr lang="ru-RU" sz="1600" dirty="0"/>
              <a:t>• PDF-сканы доступны человеку, но не содержат машиночитаемой нотной структуры;</a:t>
            </a:r>
            <a:br>
              <a:rPr lang="ru-RU" sz="1600" dirty="0"/>
            </a:br>
            <a:r>
              <a:rPr lang="ru-RU" sz="1600" dirty="0"/>
              <a:t>• без OMR нельзя автоматически получить тональность, размер, MIDI и признаки для поиска.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13232" y="3749040"/>
            <a:ext cx="512064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ru-RU" sz="1400" dirty="0"/>
              <a:t>PDF/MRC → страницы → классификация → OMR → </a:t>
            </a:r>
            <a:r>
              <a:rPr lang="ru-RU" sz="1400" dirty="0" err="1"/>
              <a:t>MusicXML</a:t>
            </a:r>
            <a:r>
              <a:rPr lang="ru-RU" sz="1400" dirty="0"/>
              <a:t>/MXL → MIDI → музыкальные признаки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5971031"/>
            <a:ext cx="4480560" cy="40661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400" b="1" dirty="0">
                <a:solidFill>
                  <a:srgbClr val="0072BC"/>
                </a:solidFill>
              </a:rPr>
              <a:t>От изображения нотного документа к </a:t>
            </a:r>
            <a:r>
              <a:rPr lang="ru-RU" sz="1400" b="1" dirty="0" err="1">
                <a:solidFill>
                  <a:srgbClr val="0072BC"/>
                </a:solidFill>
              </a:rPr>
              <a:t>MusicXML</a:t>
            </a:r>
            <a:r>
              <a:rPr lang="ru-RU" sz="1400" b="1" dirty="0">
                <a:solidFill>
                  <a:srgbClr val="0072BC"/>
                </a:solidFill>
              </a:rPr>
              <a:t>/MXL, MIDI и музыкальным признакам</a:t>
            </a:r>
            <a:endParaRPr lang="en-US" sz="1400" dirty="0">
              <a:solidFill>
                <a:srgbClr val="0072BC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1/8</a:t>
            </a:r>
            <a:endParaRPr lang="en-US" sz="800" dirty="0"/>
          </a:p>
        </p:txBody>
      </p:sp>
      <p:pic>
        <p:nvPicPr>
          <p:cNvPr id="9" name="Рисунок 9">
            <a:extLst>
              <a:ext uri="{FF2B5EF4-FFF2-40B4-BE49-F238E27FC236}">
                <a16:creationId xmlns:a16="http://schemas.microsoft.com/office/drawing/2014/main" id="{1916116A-D61A-1145-51D9-2DFFA5696A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40" y="5424455"/>
            <a:ext cx="2665723" cy="1184877"/>
          </a:xfrm>
          <a:prstGeom prst="rect">
            <a:avLst/>
          </a:prstGeom>
        </p:spPr>
      </p:pic>
      <p:pic>
        <p:nvPicPr>
          <p:cNvPr id="11" name="Picture 10" descr="A sheet of music with notes&#10;&#10;AI-generated content may be incorrect.">
            <a:extLst>
              <a:ext uri="{FF2B5EF4-FFF2-40B4-BE49-F238E27FC236}">
                <a16:creationId xmlns:a16="http://schemas.microsoft.com/office/drawing/2014/main" id="{C20CEE10-E241-F969-2F4B-E448A6DC1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217" y="404535"/>
            <a:ext cx="3633566" cy="5447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7782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72B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Цель и границы MVP</a:t>
            </a:r>
            <a:endParaRPr lang="en-US" sz="2500" dirty="0">
              <a:solidFill>
                <a:srgbClr val="0072BC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9875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Что именно проверяет проектный прототип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11610"/>
            <a:ext cx="10881360" cy="61719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2300" b="1" dirty="0">
                <a:solidFill>
                  <a:srgbClr val="0F172A"/>
                </a:solidFill>
              </a:rPr>
              <a:t>Цель: локальное приложение для преобразования PDF/MRC-сканов в </a:t>
            </a:r>
            <a:r>
              <a:rPr lang="ru-RU" sz="2300" b="1" dirty="0" err="1">
                <a:solidFill>
                  <a:srgbClr val="0F172A"/>
                </a:solidFill>
              </a:rPr>
              <a:t>MusicXML</a:t>
            </a:r>
            <a:r>
              <a:rPr lang="ru-RU" sz="2300" b="1" dirty="0">
                <a:solidFill>
                  <a:srgbClr val="0F172A"/>
                </a:solidFill>
              </a:rPr>
              <a:t>/MXL, MIDI и музыкальные признаки.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7548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</a:rPr>
              <a:t>Входит в MVP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633472"/>
            <a:ext cx="45720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0F172A"/>
                </a:solidFill>
              </a:rPr>
              <a:t>• импорт PDF/MRC
• извлечение страниц
• детекция + ручная валидация
• Audiveris OMR
• MXL → MIDI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03326" y="2174881"/>
            <a:ext cx="1949027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</a:rPr>
              <a:t>Не входит в MVP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49046" y="2659513"/>
            <a:ext cx="3274907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ru-RU" sz="1550" dirty="0">
                <a:solidFill>
                  <a:srgbClr val="0F172A"/>
                </a:solidFill>
              </a:rPr>
              <a:t>• собственная OMR-модель с нуля;</a:t>
            </a:r>
          </a:p>
          <a:p>
            <a:pPr marL="0" indent="0">
              <a:buNone/>
            </a:pPr>
            <a:r>
              <a:rPr lang="ru-RU" sz="1550" dirty="0">
                <a:solidFill>
                  <a:srgbClr val="0F172A"/>
                </a:solidFill>
              </a:rPr>
              <a:t>• промышленное масштабирование;</a:t>
            </a:r>
          </a:p>
          <a:p>
            <a:pPr marL="0" indent="0">
              <a:buNone/>
            </a:pPr>
            <a:r>
              <a:rPr lang="ru-RU" sz="1550" dirty="0">
                <a:solidFill>
                  <a:srgbClr val="0F172A"/>
                </a:solidFill>
              </a:rPr>
              <a:t>• полная экспертная проверка всех нот;</a:t>
            </a:r>
          </a:p>
          <a:p>
            <a:pPr marL="0" indent="0">
              <a:buNone/>
            </a:pPr>
            <a:r>
              <a:rPr lang="ru-RU" sz="1550" dirty="0">
                <a:solidFill>
                  <a:srgbClr val="0F172A"/>
                </a:solidFill>
              </a:rPr>
              <a:t>• поиск по мелодии.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2/8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2920" y="6053328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850" dirty="0"/>
          </a:p>
        </p:txBody>
      </p:sp>
      <p:pic>
        <p:nvPicPr>
          <p:cNvPr id="14" name="image1.jpg">
            <a:extLst>
              <a:ext uri="{FF2B5EF4-FFF2-40B4-BE49-F238E27FC236}">
                <a16:creationId xmlns:a16="http://schemas.microsoft.com/office/drawing/2014/main" id="{014DA4BF-2805-8449-5EAF-E59C8B4E7DE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Shape 14">
            <a:extLst>
              <a:ext uri="{FF2B5EF4-FFF2-40B4-BE49-F238E27FC236}">
                <a16:creationId xmlns:a16="http://schemas.microsoft.com/office/drawing/2014/main" id="{7E45852B-F77D-E64A-CDCD-F93B303AFDC2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1ACB751-1CFF-040B-9F21-EC086B986C80}"/>
              </a:ext>
            </a:extLst>
          </p:cNvPr>
          <p:cNvGrpSpPr/>
          <p:nvPr/>
        </p:nvGrpSpPr>
        <p:grpSpPr>
          <a:xfrm>
            <a:off x="2874573" y="4491089"/>
            <a:ext cx="5904662" cy="1569998"/>
            <a:chOff x="2874573" y="4491089"/>
            <a:chExt cx="5904662" cy="1569998"/>
          </a:xfrm>
        </p:grpSpPr>
        <p:pic>
          <p:nvPicPr>
            <p:cNvPr id="17" name="Picture 16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2AE445E-3589-8612-E98A-EFD0B181C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41905" y="4526951"/>
              <a:ext cx="1447576" cy="1447576"/>
            </a:xfrm>
            <a:prstGeom prst="rect">
              <a:avLst/>
            </a:prstGeom>
          </p:spPr>
        </p:pic>
        <p:pic>
          <p:nvPicPr>
            <p:cNvPr id="19" name="Picture 18" descr="A file with a red label&#10;&#10;AI-generated content may be incorrect.">
              <a:extLst>
                <a:ext uri="{FF2B5EF4-FFF2-40B4-BE49-F238E27FC236}">
                  <a16:creationId xmlns:a16="http://schemas.microsoft.com/office/drawing/2014/main" id="{3170D3AC-8D20-34AD-A418-D6A399D8FA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4573" y="4523456"/>
              <a:ext cx="1447576" cy="1447576"/>
            </a:xfrm>
            <a:prstGeom prst="rect">
              <a:avLst/>
            </a:prstGeom>
          </p:spPr>
        </p:pic>
        <p:pic>
          <p:nvPicPr>
            <p:cNvPr id="21" name="Picture 2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6F8EB501-69B1-97CD-5623-25EF4719E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09237" y="4491089"/>
              <a:ext cx="1569998" cy="1569998"/>
            </a:xfrm>
            <a:prstGeom prst="rect">
              <a:avLst/>
            </a:prstGeom>
          </p:spPr>
        </p:pic>
      </p:grpSp>
      <p:sp>
        <p:nvSpPr>
          <p:cNvPr id="10" name="Text 6">
            <a:extLst>
              <a:ext uri="{FF2B5EF4-FFF2-40B4-BE49-F238E27FC236}">
                <a16:creationId xmlns:a16="http://schemas.microsoft.com/office/drawing/2014/main" id="{6C0BA8C7-3952-7036-1BE8-D7A0C7E33D53}"/>
              </a:ext>
            </a:extLst>
          </p:cNvPr>
          <p:cNvSpPr/>
          <p:nvPr/>
        </p:nvSpPr>
        <p:spPr>
          <a:xfrm>
            <a:off x="8337973" y="2160016"/>
            <a:ext cx="1949027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b="1" dirty="0">
                <a:solidFill>
                  <a:schemeClr val="accent5"/>
                </a:solidFill>
              </a:rPr>
              <a:t>Критерии успеха:</a:t>
            </a:r>
            <a:endParaRPr lang="en-US" sz="1800" b="1" dirty="0">
              <a:solidFill>
                <a:schemeClr val="accent5"/>
              </a:solidFill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525BC69-56F7-41BF-D1C0-3F7A40856DCD}"/>
              </a:ext>
            </a:extLst>
          </p:cNvPr>
          <p:cNvSpPr/>
          <p:nvPr/>
        </p:nvSpPr>
        <p:spPr>
          <a:xfrm>
            <a:off x="8383693" y="2644648"/>
            <a:ext cx="3274907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ru-RU" sz="1600" dirty="0"/>
              <a:t>корректно выделяются страницы с нотной записью;</a:t>
            </a:r>
            <a:br>
              <a:rPr lang="ru-RU" sz="1600" dirty="0"/>
            </a:br>
            <a:r>
              <a:rPr lang="ru-RU" sz="1600" dirty="0"/>
              <a:t>• формируются </a:t>
            </a:r>
            <a:r>
              <a:rPr lang="ru-RU" sz="1600" dirty="0" err="1"/>
              <a:t>MusicXML</a:t>
            </a:r>
            <a:r>
              <a:rPr lang="ru-RU" sz="1600" dirty="0"/>
              <a:t>/MXL и MIDI;</a:t>
            </a:r>
            <a:br>
              <a:rPr lang="ru-RU" sz="1600" dirty="0"/>
            </a:br>
            <a:r>
              <a:rPr lang="ru-RU" sz="1600" dirty="0"/>
              <a:t>• извлекаются тональность, размер и структурные признаки;</a:t>
            </a:r>
            <a:br>
              <a:rPr lang="ru-RU" sz="1600" dirty="0"/>
            </a:br>
            <a:r>
              <a:rPr lang="ru-RU" sz="1600" dirty="0"/>
              <a:t>• ошибки попадают в ручную проверку и используются для улучшения классификатора.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7782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72B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Данные и ручная валидация</a:t>
            </a:r>
            <a:endParaRPr lang="en-US" sz="2500" dirty="0">
              <a:solidFill>
                <a:srgbClr val="0072BC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9875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Корпус, разметка и контроль ошибок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160020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2563EB"/>
                </a:solidFill>
              </a:rPr>
              <a:t>51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600200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документов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851759" y="1417320"/>
            <a:ext cx="160020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2563EB"/>
                </a:solidFill>
              </a:rPr>
              <a:t>2513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51759" y="1856232"/>
            <a:ext cx="1600200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страницы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09257" y="1412748"/>
            <a:ext cx="160020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2563EB"/>
                </a:solidFill>
              </a:rPr>
              <a:t>300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9257" y="1851660"/>
            <a:ext cx="1600200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ru-RU" sz="1000" dirty="0"/>
              <a:t>страниц в </a:t>
            </a:r>
            <a:r>
              <a:rPr lang="en-US" sz="1000" dirty="0"/>
              <a:t>OMR-300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560320"/>
            <a:ext cx="530352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>
              <a:buNone/>
            </a:pPr>
            <a:r>
              <a:rPr lang="ru-RU" sz="1600" dirty="0"/>
              <a:t>• сформирован корпус сканированных нотных документов;</a:t>
            </a:r>
            <a:br>
              <a:rPr lang="ru-RU" sz="1600" dirty="0"/>
            </a:br>
            <a:r>
              <a:rPr lang="ru-RU" sz="1600" dirty="0"/>
              <a:t>• подготовлена диагностическая выборка OMR-300;</a:t>
            </a:r>
            <a:br>
              <a:rPr lang="ru-RU" sz="1600" dirty="0"/>
            </a:br>
            <a:r>
              <a:rPr lang="ru-RU" sz="1600" dirty="0"/>
              <a:t>• после всех резервных сценариев осталось 43 </a:t>
            </a:r>
            <a:r>
              <a:rPr lang="ru-RU" sz="1600" dirty="0" err="1"/>
              <a:t>final</a:t>
            </a:r>
            <a:r>
              <a:rPr lang="ru-RU" sz="1600" dirty="0"/>
              <a:t> </a:t>
            </a:r>
            <a:r>
              <a:rPr lang="ru-RU" sz="1600" dirty="0" err="1"/>
              <a:t>failed</a:t>
            </a:r>
            <a:r>
              <a:rPr lang="ru-RU" sz="1600" dirty="0"/>
              <a:t> страницы;</a:t>
            </a:r>
            <a:br>
              <a:rPr lang="ru-RU" sz="1600" dirty="0"/>
            </a:br>
            <a:r>
              <a:rPr lang="ru-RU" sz="1600" dirty="0"/>
              <a:t>• 23 из 43 страниц разобраны вручную через </a:t>
            </a:r>
            <a:r>
              <a:rPr lang="ru-RU" sz="1600" dirty="0" err="1"/>
              <a:t>review</a:t>
            </a:r>
            <a:r>
              <a:rPr lang="ru-RU" sz="1600" dirty="0"/>
              <a:t> </a:t>
            </a:r>
            <a:r>
              <a:rPr lang="ru-RU" sz="1600" dirty="0" err="1"/>
              <a:t>app</a:t>
            </a:r>
            <a:r>
              <a:rPr lang="ru-RU" sz="1600" dirty="0"/>
              <a:t>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19460" y="4983478"/>
            <a:ext cx="4673379" cy="45322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200" dirty="0"/>
              <a:t>Примеры страниц, ошибочно попадающих в OMR: пустые, титульные, текстовые и декоративные страницы.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3/8</a:t>
            </a:r>
            <a:endParaRPr lang="en-US" sz="800" dirty="0"/>
          </a:p>
        </p:txBody>
      </p:sp>
      <p:pic>
        <p:nvPicPr>
          <p:cNvPr id="16" name="image1.jpg">
            <a:extLst>
              <a:ext uri="{FF2B5EF4-FFF2-40B4-BE49-F238E27FC236}">
                <a16:creationId xmlns:a16="http://schemas.microsoft.com/office/drawing/2014/main" id="{E1BA2D23-95C2-AC03-CF2F-271AF0C8797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hape 14">
            <a:extLst>
              <a:ext uri="{FF2B5EF4-FFF2-40B4-BE49-F238E27FC236}">
                <a16:creationId xmlns:a16="http://schemas.microsoft.com/office/drawing/2014/main" id="{CA270D9F-2ACF-D20C-7FAA-A66131C63B86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  <p:pic>
        <p:nvPicPr>
          <p:cNvPr id="19" name="Picture 18" descr="A close-up of a brown paper&#10;&#10;AI-generated content may be incorrect.">
            <a:extLst>
              <a:ext uri="{FF2B5EF4-FFF2-40B4-BE49-F238E27FC236}">
                <a16:creationId xmlns:a16="http://schemas.microsoft.com/office/drawing/2014/main" id="{716081C7-9AA5-ADEE-1731-ADD0F4FA0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438" y="1344166"/>
            <a:ext cx="2366431" cy="3547873"/>
          </a:xfrm>
          <a:prstGeom prst="rect">
            <a:avLst/>
          </a:prstGeom>
        </p:spPr>
      </p:pic>
      <p:pic>
        <p:nvPicPr>
          <p:cNvPr id="21" name="Picture 20" descr="A close-up of a paper&#10;&#10;AI-generated content may be incorrect.">
            <a:extLst>
              <a:ext uri="{FF2B5EF4-FFF2-40B4-BE49-F238E27FC236}">
                <a16:creationId xmlns:a16="http://schemas.microsoft.com/office/drawing/2014/main" id="{0065934F-C8EE-FD1E-A71A-E8BA162667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2091" y="1350527"/>
            <a:ext cx="2362189" cy="3541512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ACD5A994-7167-BCFF-114E-F8263097C35D}"/>
              </a:ext>
            </a:extLst>
          </p:cNvPr>
          <p:cNvSpPr/>
          <p:nvPr/>
        </p:nvSpPr>
        <p:spPr>
          <a:xfrm>
            <a:off x="4617819" y="1441535"/>
            <a:ext cx="160020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ru-RU" sz="2200" b="1" dirty="0">
                <a:solidFill>
                  <a:srgbClr val="2563EB"/>
                </a:solidFill>
              </a:rPr>
              <a:t>43</a:t>
            </a:r>
            <a:endParaRPr lang="en-US" sz="22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C2CB1097-0632-6C9C-2355-42D82556F25A}"/>
              </a:ext>
            </a:extLst>
          </p:cNvPr>
          <p:cNvSpPr/>
          <p:nvPr/>
        </p:nvSpPr>
        <p:spPr>
          <a:xfrm>
            <a:off x="4617819" y="1880447"/>
            <a:ext cx="1600200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ctr">
              <a:buNone/>
            </a:pPr>
            <a:r>
              <a:rPr lang="en-US" sz="1000" dirty="0"/>
              <a:t>final failed </a:t>
            </a:r>
            <a:r>
              <a:rPr lang="ru-RU" sz="1000" dirty="0"/>
              <a:t>после </a:t>
            </a:r>
            <a:r>
              <a:rPr lang="en-US" sz="1000" dirty="0"/>
              <a:t>fallback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7782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ru-RU" sz="2500" b="1" dirty="0">
                <a:solidFill>
                  <a:srgbClr val="0072B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Архитектура приложения</a:t>
            </a:r>
            <a:endParaRPr lang="en-US" sz="2500" dirty="0">
              <a:solidFill>
                <a:srgbClr val="0072BC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9875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Гибридный подход: CV + ручная проверка + Audiveris + music21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986" y="534072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</a:rPr>
              <a:t>OpenCV + rules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986" y="570648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200" dirty="0"/>
              <a:t>первичная фильтрация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93906" y="534072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ML classifier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93906" y="570648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200" dirty="0"/>
              <a:t>классификация страниц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82826" y="534072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</a:rPr>
              <a:t>Audiveris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82826" y="570648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/>
              <a:t>OMR-</a:t>
            </a:r>
            <a:r>
              <a:rPr lang="ru-RU" sz="1200" dirty="0"/>
              <a:t>распознавание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71746" y="534072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</a:rPr>
              <a:t>music21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71746" y="570648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200" dirty="0"/>
              <a:t>анализ </a:t>
            </a:r>
            <a:r>
              <a:rPr lang="ru-RU" sz="1200" dirty="0" err="1"/>
              <a:t>MusicXML</a:t>
            </a:r>
            <a:r>
              <a:rPr lang="ru-RU" sz="1200" dirty="0"/>
              <a:t>/MXL и MIDI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4/8</a:t>
            </a:r>
            <a:endParaRPr lang="en-US" sz="800" dirty="0"/>
          </a:p>
        </p:txBody>
      </p:sp>
      <p:pic>
        <p:nvPicPr>
          <p:cNvPr id="17" name="image1.jpg">
            <a:extLst>
              <a:ext uri="{FF2B5EF4-FFF2-40B4-BE49-F238E27FC236}">
                <a16:creationId xmlns:a16="http://schemas.microsoft.com/office/drawing/2014/main" id="{228D73D5-8772-D871-6407-B218B716694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8" name="Shape 14">
            <a:extLst>
              <a:ext uri="{FF2B5EF4-FFF2-40B4-BE49-F238E27FC236}">
                <a16:creationId xmlns:a16="http://schemas.microsoft.com/office/drawing/2014/main" id="{5DA7D576-9F4F-5D6F-F53F-4BB1DB8EDE6D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16F77176-56E2-0A06-FA7F-9A9AD849966B}"/>
              </a:ext>
            </a:extLst>
          </p:cNvPr>
          <p:cNvSpPr/>
          <p:nvPr/>
        </p:nvSpPr>
        <p:spPr>
          <a:xfrm>
            <a:off x="182880" y="2414137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25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FD8C58-E1D3-242A-AD89-DF6DB0D55007}"/>
              </a:ext>
            </a:extLst>
          </p:cNvPr>
          <p:cNvSpPr/>
          <p:nvPr/>
        </p:nvSpPr>
        <p:spPr>
          <a:xfrm>
            <a:off x="530352" y="2245238"/>
            <a:ext cx="310896" cy="310896"/>
          </a:xfrm>
          <a:prstGeom prst="ellipse">
            <a:avLst/>
          </a:prstGeom>
          <a:solidFill>
            <a:srgbClr val="6250AA"/>
          </a:solidFill>
          <a:ln>
            <a:solidFill>
              <a:srgbClr val="625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44B4DB-E8A6-F1B6-4E86-8FB1EA026057}"/>
              </a:ext>
            </a:extLst>
          </p:cNvPr>
          <p:cNvSpPr txBox="1"/>
          <p:nvPr/>
        </p:nvSpPr>
        <p:spPr>
          <a:xfrm>
            <a:off x="182880" y="2605795"/>
            <a:ext cx="1033272" cy="17449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sz="900" dirty="0"/>
              <a:t>PDF + MRC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698F6B-011B-03A5-61C2-C0180DB8C641}"/>
              </a:ext>
            </a:extLst>
          </p:cNvPr>
          <p:cNvSpPr txBox="1"/>
          <p:nvPr/>
        </p:nvSpPr>
        <p:spPr>
          <a:xfrm>
            <a:off x="245872" y="3258166"/>
            <a:ext cx="909320" cy="40626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sz="800" dirty="0" err="1"/>
              <a:t>исходный</a:t>
            </a:r>
            <a:r>
              <a:rPr sz="800" dirty="0"/>
              <a:t> </a:t>
            </a:r>
            <a:r>
              <a:rPr sz="800" dirty="0" err="1"/>
              <a:t>документ</a:t>
            </a:r>
            <a:br>
              <a:rPr sz="800" dirty="0"/>
            </a:br>
            <a:r>
              <a:rPr sz="800" dirty="0"/>
              <a:t>и </a:t>
            </a:r>
            <a:r>
              <a:rPr sz="800" dirty="0" err="1"/>
              <a:t>метаданные</a:t>
            </a:r>
            <a:endParaRPr sz="800" dirty="0"/>
          </a:p>
        </p:txBody>
      </p:sp>
      <p:sp>
        <p:nvSpPr>
          <p:cNvPr id="23" name="Rounded Rectangle 8">
            <a:extLst>
              <a:ext uri="{FF2B5EF4-FFF2-40B4-BE49-F238E27FC236}">
                <a16:creationId xmlns:a16="http://schemas.microsoft.com/office/drawing/2014/main" id="{A8F2560B-B2E8-8E2F-65B2-EC7FEEBC6C28}"/>
              </a:ext>
            </a:extLst>
          </p:cNvPr>
          <p:cNvSpPr/>
          <p:nvPr/>
        </p:nvSpPr>
        <p:spPr>
          <a:xfrm>
            <a:off x="1517903" y="2399765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BDC9470-20AE-26BA-51CA-716B351B7EE8}"/>
              </a:ext>
            </a:extLst>
          </p:cNvPr>
          <p:cNvSpPr/>
          <p:nvPr/>
        </p:nvSpPr>
        <p:spPr>
          <a:xfrm>
            <a:off x="1865375" y="2230866"/>
            <a:ext cx="310896" cy="310896"/>
          </a:xfrm>
          <a:prstGeom prst="ellipse">
            <a:avLst/>
          </a:prstGeom>
          <a:solidFill>
            <a:srgbClr val="3474BF"/>
          </a:solidFill>
          <a:ln>
            <a:solidFill>
              <a:srgbClr val="34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0BEB79-AC37-881F-2581-016205F4D57B}"/>
              </a:ext>
            </a:extLst>
          </p:cNvPr>
          <p:cNvSpPr txBox="1"/>
          <p:nvPr/>
        </p:nvSpPr>
        <p:spPr>
          <a:xfrm>
            <a:off x="1517904" y="2591423"/>
            <a:ext cx="1033272" cy="31225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sz="900"/>
              <a:t>Извлечение страниц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49BB54-945C-75E2-6ED9-C2409AE56FBB}"/>
              </a:ext>
            </a:extLst>
          </p:cNvPr>
          <p:cNvSpPr txBox="1"/>
          <p:nvPr/>
        </p:nvSpPr>
        <p:spPr>
          <a:xfrm>
            <a:off x="1580895" y="3243794"/>
            <a:ext cx="90932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sz="800"/>
              <a:t>PNG, manifest</a:t>
            </a:r>
            <a:br>
              <a:rPr sz="800"/>
            </a:br>
            <a:r>
              <a:rPr sz="800"/>
              <a:t>200 DPI</a:t>
            </a:r>
          </a:p>
        </p:txBody>
      </p:sp>
      <p:sp>
        <p:nvSpPr>
          <p:cNvPr id="27" name="Rounded Rectangle 12">
            <a:extLst>
              <a:ext uri="{FF2B5EF4-FFF2-40B4-BE49-F238E27FC236}">
                <a16:creationId xmlns:a16="http://schemas.microsoft.com/office/drawing/2014/main" id="{FEEF474B-3667-BD7E-4982-6EFC36998731}"/>
              </a:ext>
            </a:extLst>
          </p:cNvPr>
          <p:cNvSpPr/>
          <p:nvPr/>
        </p:nvSpPr>
        <p:spPr>
          <a:xfrm>
            <a:off x="2848356" y="2396875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85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6C7BE1D-35B2-21DA-4FA4-D6DF492DC028}"/>
              </a:ext>
            </a:extLst>
          </p:cNvPr>
          <p:cNvSpPr/>
          <p:nvPr/>
        </p:nvSpPr>
        <p:spPr>
          <a:xfrm>
            <a:off x="3195828" y="2227976"/>
            <a:ext cx="310896" cy="310896"/>
          </a:xfrm>
          <a:prstGeom prst="ellipse">
            <a:avLst/>
          </a:prstGeom>
          <a:solidFill>
            <a:srgbClr val="26857E"/>
          </a:solidFill>
          <a:ln>
            <a:solidFill>
              <a:srgbClr val="2685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7399E3-6261-F72F-0A08-0C936ED8E7C5}"/>
              </a:ext>
            </a:extLst>
          </p:cNvPr>
          <p:cNvSpPr txBox="1"/>
          <p:nvPr/>
        </p:nvSpPr>
        <p:spPr>
          <a:xfrm>
            <a:off x="2848357" y="2588533"/>
            <a:ext cx="1033272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lang="ru-RU" sz="900" dirty="0"/>
              <a:t>Классификация страниц</a:t>
            </a:r>
            <a:endParaRPr lang="en-US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2407E-83C3-2F7B-0BEF-968B43297F10}"/>
              </a:ext>
            </a:extLst>
          </p:cNvPr>
          <p:cNvSpPr txBox="1"/>
          <p:nvPr/>
        </p:nvSpPr>
        <p:spPr>
          <a:xfrm>
            <a:off x="2911348" y="3240903"/>
            <a:ext cx="909320" cy="40626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sz="800" dirty="0"/>
              <a:t>music / title / text / blank</a:t>
            </a:r>
            <a:br>
              <a:rPr sz="800" dirty="0"/>
            </a:br>
            <a:r>
              <a:rPr sz="800" dirty="0" err="1"/>
              <a:t>ручная</a:t>
            </a:r>
            <a:r>
              <a:rPr sz="800" dirty="0"/>
              <a:t> </a:t>
            </a:r>
            <a:r>
              <a:rPr sz="800" dirty="0" err="1"/>
              <a:t>проверка</a:t>
            </a:r>
            <a:endParaRPr sz="800" dirty="0"/>
          </a:p>
        </p:txBody>
      </p:sp>
      <p:sp>
        <p:nvSpPr>
          <p:cNvPr id="31" name="Rounded Rectangle 16">
            <a:extLst>
              <a:ext uri="{FF2B5EF4-FFF2-40B4-BE49-F238E27FC236}">
                <a16:creationId xmlns:a16="http://schemas.microsoft.com/office/drawing/2014/main" id="{8528560C-65A5-71F1-F1B2-5537BA88A5DA}"/>
              </a:ext>
            </a:extLst>
          </p:cNvPr>
          <p:cNvSpPr/>
          <p:nvPr/>
        </p:nvSpPr>
        <p:spPr>
          <a:xfrm>
            <a:off x="4186427" y="2361447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294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107836D-BAAF-F2E0-45DB-62CFB42EA27C}"/>
              </a:ext>
            </a:extLst>
          </p:cNvPr>
          <p:cNvSpPr/>
          <p:nvPr/>
        </p:nvSpPr>
        <p:spPr>
          <a:xfrm>
            <a:off x="4533898" y="2192548"/>
            <a:ext cx="310896" cy="310896"/>
          </a:xfrm>
          <a:prstGeom prst="ellipse">
            <a:avLst/>
          </a:prstGeom>
          <a:solidFill>
            <a:srgbClr val="529459"/>
          </a:solidFill>
          <a:ln>
            <a:solidFill>
              <a:srgbClr val="5294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59F428-92C7-0603-630C-08D3353F890A}"/>
              </a:ext>
            </a:extLst>
          </p:cNvPr>
          <p:cNvSpPr txBox="1"/>
          <p:nvPr/>
        </p:nvSpPr>
        <p:spPr>
          <a:xfrm>
            <a:off x="4186428" y="2553105"/>
            <a:ext cx="1033272" cy="17543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sz="900"/>
              <a:t>OMR-кандидаты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E833B9-7CCC-B4E9-98AE-BFFFBFEBE3CA}"/>
              </a:ext>
            </a:extLst>
          </p:cNvPr>
          <p:cNvSpPr txBox="1"/>
          <p:nvPr/>
        </p:nvSpPr>
        <p:spPr>
          <a:xfrm>
            <a:off x="4249419" y="3205476"/>
            <a:ext cx="90932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sz="800" dirty="0" err="1"/>
              <a:t>has_music</a:t>
            </a:r>
            <a:r>
              <a:rPr sz="800" dirty="0"/>
              <a:t> = 1</a:t>
            </a:r>
            <a:br>
              <a:rPr sz="800" dirty="0"/>
            </a:br>
            <a:r>
              <a:rPr sz="800" dirty="0" err="1"/>
              <a:t>page_type</a:t>
            </a:r>
            <a:r>
              <a:rPr sz="800" dirty="0"/>
              <a:t> = music</a:t>
            </a:r>
          </a:p>
        </p:txBody>
      </p:sp>
      <p:sp>
        <p:nvSpPr>
          <p:cNvPr id="35" name="Rounded Rectangle 20">
            <a:extLst>
              <a:ext uri="{FF2B5EF4-FFF2-40B4-BE49-F238E27FC236}">
                <a16:creationId xmlns:a16="http://schemas.microsoft.com/office/drawing/2014/main" id="{AD96E1DA-1177-56C3-B3A2-D6032B50564B}"/>
              </a:ext>
            </a:extLst>
          </p:cNvPr>
          <p:cNvSpPr/>
          <p:nvPr/>
        </p:nvSpPr>
        <p:spPr>
          <a:xfrm>
            <a:off x="5524496" y="2356587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9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AF77EFC-757B-7EEC-826A-E65471A97ADD}"/>
              </a:ext>
            </a:extLst>
          </p:cNvPr>
          <p:cNvSpPr/>
          <p:nvPr/>
        </p:nvSpPr>
        <p:spPr>
          <a:xfrm>
            <a:off x="5871968" y="2187688"/>
            <a:ext cx="310896" cy="310896"/>
          </a:xfrm>
          <a:prstGeom prst="ellipse">
            <a:avLst/>
          </a:prstGeom>
          <a:solidFill>
            <a:srgbClr val="E19F2D"/>
          </a:solidFill>
          <a:ln>
            <a:solidFill>
              <a:srgbClr val="E19F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92A1DF2-5B4C-6442-3204-AEAD25F486F3}"/>
              </a:ext>
            </a:extLst>
          </p:cNvPr>
          <p:cNvSpPr txBox="1"/>
          <p:nvPr/>
        </p:nvSpPr>
        <p:spPr>
          <a:xfrm>
            <a:off x="5524497" y="2548245"/>
            <a:ext cx="1033272" cy="17449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lang="en-US" sz="900" dirty="0" err="1"/>
              <a:t>Audiveris</a:t>
            </a:r>
            <a:r>
              <a:rPr lang="en-US" sz="900" dirty="0"/>
              <a:t> OMR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2FB230-40E3-5F02-E174-7B8ED6E7C2CE}"/>
              </a:ext>
            </a:extLst>
          </p:cNvPr>
          <p:cNvSpPr txBox="1"/>
          <p:nvPr/>
        </p:nvSpPr>
        <p:spPr>
          <a:xfrm>
            <a:off x="5587488" y="3200614"/>
            <a:ext cx="90932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lang="ru-RU" sz="800" dirty="0"/>
              <a:t>распознавание</a:t>
            </a:r>
            <a:br>
              <a:rPr lang="ru-RU" sz="800" dirty="0"/>
            </a:br>
            <a:r>
              <a:rPr lang="ru-RU" sz="800" dirty="0"/>
              <a:t>нотной структуры</a:t>
            </a:r>
          </a:p>
        </p:txBody>
      </p:sp>
      <p:sp>
        <p:nvSpPr>
          <p:cNvPr id="39" name="Rounded Rectangle 24">
            <a:extLst>
              <a:ext uri="{FF2B5EF4-FFF2-40B4-BE49-F238E27FC236}">
                <a16:creationId xmlns:a16="http://schemas.microsoft.com/office/drawing/2014/main" id="{101C7272-05E9-5EEA-B5EA-1EF9E0E31DFB}"/>
              </a:ext>
            </a:extLst>
          </p:cNvPr>
          <p:cNvSpPr/>
          <p:nvPr/>
        </p:nvSpPr>
        <p:spPr>
          <a:xfrm>
            <a:off x="6866123" y="2368418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7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E981E63-4612-81F5-FB12-583AAC4B665D}"/>
              </a:ext>
            </a:extLst>
          </p:cNvPr>
          <p:cNvSpPr/>
          <p:nvPr/>
        </p:nvSpPr>
        <p:spPr>
          <a:xfrm>
            <a:off x="7213595" y="2199519"/>
            <a:ext cx="310896" cy="310896"/>
          </a:xfrm>
          <a:prstGeom prst="ellipse">
            <a:avLst/>
          </a:prstGeom>
          <a:solidFill>
            <a:srgbClr val="EA7E2D"/>
          </a:solidFill>
          <a:ln>
            <a:solidFill>
              <a:srgbClr val="EA7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3765FD-5DE6-7B0A-5EBD-9FE22185B2DF}"/>
              </a:ext>
            </a:extLst>
          </p:cNvPr>
          <p:cNvSpPr txBox="1"/>
          <p:nvPr/>
        </p:nvSpPr>
        <p:spPr>
          <a:xfrm>
            <a:off x="6866124" y="2560076"/>
            <a:ext cx="1033272" cy="17449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lang="en-US" sz="900" dirty="0"/>
              <a:t>MXL / </a:t>
            </a:r>
            <a:r>
              <a:rPr lang="en-US" sz="900" dirty="0" err="1"/>
              <a:t>MusicXML</a:t>
            </a:r>
            <a:endParaRPr lang="en-US" sz="9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A7057D-044B-F525-A199-C0D1A62E27FD}"/>
              </a:ext>
            </a:extLst>
          </p:cNvPr>
          <p:cNvSpPr txBox="1"/>
          <p:nvPr/>
        </p:nvSpPr>
        <p:spPr>
          <a:xfrm>
            <a:off x="6874754" y="3212447"/>
            <a:ext cx="1033272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lang="ru-RU" sz="800" dirty="0"/>
              <a:t>структурированный</a:t>
            </a:r>
            <a:br>
              <a:rPr lang="ru-RU" sz="800" dirty="0"/>
            </a:br>
            <a:r>
              <a:rPr lang="ru-RU" sz="800" dirty="0"/>
              <a:t>нотный формат</a:t>
            </a:r>
          </a:p>
        </p:txBody>
      </p:sp>
      <p:sp>
        <p:nvSpPr>
          <p:cNvPr id="43" name="Rounded Rectangle 28">
            <a:extLst>
              <a:ext uri="{FF2B5EF4-FFF2-40B4-BE49-F238E27FC236}">
                <a16:creationId xmlns:a16="http://schemas.microsoft.com/office/drawing/2014/main" id="{5F89997C-CF2C-6A1B-1EC3-D3C9F3B7C625}"/>
              </a:ext>
            </a:extLst>
          </p:cNvPr>
          <p:cNvSpPr/>
          <p:nvPr/>
        </p:nvSpPr>
        <p:spPr>
          <a:xfrm>
            <a:off x="8199118" y="2361447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4F280AB-E527-D708-249F-EFF526494A3C}"/>
              </a:ext>
            </a:extLst>
          </p:cNvPr>
          <p:cNvSpPr/>
          <p:nvPr/>
        </p:nvSpPr>
        <p:spPr>
          <a:xfrm>
            <a:off x="8546590" y="2192548"/>
            <a:ext cx="310896" cy="310896"/>
          </a:xfrm>
          <a:prstGeom prst="ellipse">
            <a:avLst/>
          </a:prstGeom>
          <a:solidFill>
            <a:srgbClr val="DC4141"/>
          </a:solidFill>
          <a:ln>
            <a:solidFill>
              <a:srgbClr val="DC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38EC65-CE44-3062-E774-A416907592C6}"/>
              </a:ext>
            </a:extLst>
          </p:cNvPr>
          <p:cNvSpPr txBox="1"/>
          <p:nvPr/>
        </p:nvSpPr>
        <p:spPr>
          <a:xfrm>
            <a:off x="8199119" y="2553105"/>
            <a:ext cx="1033272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lang="en-US" sz="1100" dirty="0"/>
              <a:t>MIDI</a:t>
            </a:r>
            <a:endParaRPr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5F3CEE-9D60-3DDB-D78F-7A11B7F39369}"/>
              </a:ext>
            </a:extLst>
          </p:cNvPr>
          <p:cNvSpPr txBox="1"/>
          <p:nvPr/>
        </p:nvSpPr>
        <p:spPr>
          <a:xfrm>
            <a:off x="8207749" y="3205476"/>
            <a:ext cx="1024641" cy="40626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lang="ru-RU" sz="800" dirty="0"/>
              <a:t>анализ </a:t>
            </a:r>
            <a:r>
              <a:rPr lang="ru-RU" sz="800" dirty="0" err="1"/>
              <a:t>MusicXML</a:t>
            </a:r>
            <a:r>
              <a:rPr lang="ru-RU" sz="800" dirty="0"/>
              <a:t>/MXL и MIDI</a:t>
            </a:r>
            <a:endParaRPr lang="en-US" sz="800" dirty="0"/>
          </a:p>
        </p:txBody>
      </p:sp>
      <p:sp>
        <p:nvSpPr>
          <p:cNvPr id="47" name="Rounded Rectangle 32">
            <a:extLst>
              <a:ext uri="{FF2B5EF4-FFF2-40B4-BE49-F238E27FC236}">
                <a16:creationId xmlns:a16="http://schemas.microsoft.com/office/drawing/2014/main" id="{0F755D3C-D736-AEC8-161C-ACA46FD4E329}"/>
              </a:ext>
            </a:extLst>
          </p:cNvPr>
          <p:cNvSpPr/>
          <p:nvPr/>
        </p:nvSpPr>
        <p:spPr>
          <a:xfrm>
            <a:off x="9532112" y="2356587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24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1C378165-000E-E675-1A50-A2BC885DCD17}"/>
              </a:ext>
            </a:extLst>
          </p:cNvPr>
          <p:cNvSpPr/>
          <p:nvPr/>
        </p:nvSpPr>
        <p:spPr>
          <a:xfrm>
            <a:off x="9879584" y="2187688"/>
            <a:ext cx="310896" cy="310896"/>
          </a:xfrm>
          <a:prstGeom prst="ellipse">
            <a:avLst/>
          </a:prstGeom>
          <a:solidFill>
            <a:srgbClr val="824CA0"/>
          </a:solidFill>
          <a:ln>
            <a:solidFill>
              <a:srgbClr val="824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151D7A-6DBD-08F0-8E68-E93DB480B7E5}"/>
              </a:ext>
            </a:extLst>
          </p:cNvPr>
          <p:cNvSpPr txBox="1"/>
          <p:nvPr/>
        </p:nvSpPr>
        <p:spPr>
          <a:xfrm>
            <a:off x="9532113" y="2548245"/>
            <a:ext cx="1033272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lang="ru-RU" sz="900" dirty="0"/>
              <a:t>Музыкальные признаки</a:t>
            </a:r>
            <a:endParaRPr lang="en-US" sz="9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5F96DC-FBE2-94B8-1A8F-43612AB93A86}"/>
              </a:ext>
            </a:extLst>
          </p:cNvPr>
          <p:cNvSpPr txBox="1"/>
          <p:nvPr/>
        </p:nvSpPr>
        <p:spPr>
          <a:xfrm>
            <a:off x="9595104" y="3200616"/>
            <a:ext cx="90932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lang="ru-RU" sz="800" dirty="0"/>
              <a:t>Тональность размер и т.д.</a:t>
            </a:r>
            <a:endParaRPr lang="en-US" sz="800" dirty="0"/>
          </a:p>
        </p:txBody>
      </p:sp>
      <p:sp>
        <p:nvSpPr>
          <p:cNvPr id="51" name="Rounded Rectangle 36">
            <a:extLst>
              <a:ext uri="{FF2B5EF4-FFF2-40B4-BE49-F238E27FC236}">
                <a16:creationId xmlns:a16="http://schemas.microsoft.com/office/drawing/2014/main" id="{24A643D9-A87F-AADA-CC69-D321FD03F066}"/>
              </a:ext>
            </a:extLst>
          </p:cNvPr>
          <p:cNvSpPr/>
          <p:nvPr/>
        </p:nvSpPr>
        <p:spPr>
          <a:xfrm>
            <a:off x="10865105" y="2356587"/>
            <a:ext cx="1033272" cy="138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2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BAD5B22-E8FA-CB9A-E595-0B29ACDFF55D}"/>
              </a:ext>
            </a:extLst>
          </p:cNvPr>
          <p:cNvSpPr/>
          <p:nvPr/>
        </p:nvSpPr>
        <p:spPr>
          <a:xfrm>
            <a:off x="11212577" y="2187688"/>
            <a:ext cx="310896" cy="310896"/>
          </a:xfrm>
          <a:prstGeom prst="ellipse">
            <a:avLst/>
          </a:prstGeom>
          <a:solidFill>
            <a:srgbClr val="3278BE"/>
          </a:solidFill>
          <a:ln>
            <a:solidFill>
              <a:srgbClr val="32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356CA9-8E07-1CAF-6652-6A42C71DA672}"/>
              </a:ext>
            </a:extLst>
          </p:cNvPr>
          <p:cNvSpPr txBox="1"/>
          <p:nvPr/>
        </p:nvSpPr>
        <p:spPr>
          <a:xfrm>
            <a:off x="10865107" y="2548245"/>
            <a:ext cx="1033272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1150" b="1">
                <a:solidFill>
                  <a:srgbClr val="0A122A"/>
                </a:solidFill>
                <a:latin typeface="Aptos"/>
              </a:defRPr>
            </a:pPr>
            <a:r>
              <a:rPr lang="en-US" sz="1100" dirty="0"/>
              <a:t>Review app / </a:t>
            </a:r>
            <a:r>
              <a:rPr lang="ru-RU" sz="1100" dirty="0"/>
              <a:t>отчёты</a:t>
            </a:r>
            <a:endParaRPr sz="9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7F261F-2EC0-14DC-6808-8A29080CC170}"/>
              </a:ext>
            </a:extLst>
          </p:cNvPr>
          <p:cNvSpPr txBox="1"/>
          <p:nvPr/>
        </p:nvSpPr>
        <p:spPr>
          <a:xfrm>
            <a:off x="10928097" y="3200614"/>
            <a:ext cx="90932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 sz="840" b="0">
                <a:solidFill>
                  <a:srgbClr val="374158"/>
                </a:solidFill>
                <a:latin typeface="Aptos"/>
              </a:defRPr>
            </a:pPr>
            <a:r>
              <a:rPr lang="ru-RU" sz="800" dirty="0"/>
              <a:t>ручная проверка и </a:t>
            </a:r>
            <a:r>
              <a:rPr lang="ru-RU" sz="800" dirty="0" err="1"/>
              <a:t>feedback</a:t>
            </a:r>
            <a:r>
              <a:rPr lang="ru-RU" sz="800" dirty="0"/>
              <a:t> </a:t>
            </a:r>
            <a:r>
              <a:rPr lang="ru-RU" sz="800" dirty="0" err="1"/>
              <a:t>loop</a:t>
            </a:r>
            <a:endParaRPr lang="ru-RU" sz="800" dirty="0"/>
          </a:p>
        </p:txBody>
      </p:sp>
      <p:cxnSp>
        <p:nvCxnSpPr>
          <p:cNvPr id="55" name="Connector 40">
            <a:extLst>
              <a:ext uri="{FF2B5EF4-FFF2-40B4-BE49-F238E27FC236}">
                <a16:creationId xmlns:a16="http://schemas.microsoft.com/office/drawing/2014/main" id="{A5AC91BD-AE96-5854-1110-4EFB196B083C}"/>
              </a:ext>
            </a:extLst>
          </p:cNvPr>
          <p:cNvCxnSpPr/>
          <p:nvPr/>
        </p:nvCxnSpPr>
        <p:spPr>
          <a:xfrm>
            <a:off x="1316735" y="2879825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41">
            <a:extLst>
              <a:ext uri="{FF2B5EF4-FFF2-40B4-BE49-F238E27FC236}">
                <a16:creationId xmlns:a16="http://schemas.microsoft.com/office/drawing/2014/main" id="{62D8A48B-3676-B6A4-F8FB-EE71289F3548}"/>
              </a:ext>
            </a:extLst>
          </p:cNvPr>
          <p:cNvCxnSpPr/>
          <p:nvPr/>
        </p:nvCxnSpPr>
        <p:spPr>
          <a:xfrm>
            <a:off x="2647188" y="2876935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42">
            <a:extLst>
              <a:ext uri="{FF2B5EF4-FFF2-40B4-BE49-F238E27FC236}">
                <a16:creationId xmlns:a16="http://schemas.microsoft.com/office/drawing/2014/main" id="{3EBA5FB6-A4BC-46C2-5FB6-2D8E23FD5DA3}"/>
              </a:ext>
            </a:extLst>
          </p:cNvPr>
          <p:cNvCxnSpPr/>
          <p:nvPr/>
        </p:nvCxnSpPr>
        <p:spPr>
          <a:xfrm>
            <a:off x="3985258" y="2841507"/>
            <a:ext cx="109729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43">
            <a:extLst>
              <a:ext uri="{FF2B5EF4-FFF2-40B4-BE49-F238E27FC236}">
                <a16:creationId xmlns:a16="http://schemas.microsoft.com/office/drawing/2014/main" id="{B314A01C-CBE5-9BD8-2213-11B5F6F1D803}"/>
              </a:ext>
            </a:extLst>
          </p:cNvPr>
          <p:cNvCxnSpPr/>
          <p:nvPr/>
        </p:nvCxnSpPr>
        <p:spPr>
          <a:xfrm>
            <a:off x="5323328" y="2836647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45">
            <a:extLst>
              <a:ext uri="{FF2B5EF4-FFF2-40B4-BE49-F238E27FC236}">
                <a16:creationId xmlns:a16="http://schemas.microsoft.com/office/drawing/2014/main" id="{D45F901B-DE60-C9C5-32BC-077C2CA75763}"/>
              </a:ext>
            </a:extLst>
          </p:cNvPr>
          <p:cNvCxnSpPr/>
          <p:nvPr/>
        </p:nvCxnSpPr>
        <p:spPr>
          <a:xfrm>
            <a:off x="7997950" y="2841507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46">
            <a:extLst>
              <a:ext uri="{FF2B5EF4-FFF2-40B4-BE49-F238E27FC236}">
                <a16:creationId xmlns:a16="http://schemas.microsoft.com/office/drawing/2014/main" id="{5309829D-7397-EBE8-BD62-4673CB564F1D}"/>
              </a:ext>
            </a:extLst>
          </p:cNvPr>
          <p:cNvCxnSpPr/>
          <p:nvPr/>
        </p:nvCxnSpPr>
        <p:spPr>
          <a:xfrm>
            <a:off x="9330944" y="2836647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47">
            <a:extLst>
              <a:ext uri="{FF2B5EF4-FFF2-40B4-BE49-F238E27FC236}">
                <a16:creationId xmlns:a16="http://schemas.microsoft.com/office/drawing/2014/main" id="{1A74990A-3E0D-45EC-E704-074C45BCD9B6}"/>
              </a:ext>
            </a:extLst>
          </p:cNvPr>
          <p:cNvCxnSpPr/>
          <p:nvPr/>
        </p:nvCxnSpPr>
        <p:spPr>
          <a:xfrm>
            <a:off x="10663938" y="2836647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43">
            <a:extLst>
              <a:ext uri="{FF2B5EF4-FFF2-40B4-BE49-F238E27FC236}">
                <a16:creationId xmlns:a16="http://schemas.microsoft.com/office/drawing/2014/main" id="{816E4516-6C89-9684-829B-48334AFF2167}"/>
              </a:ext>
            </a:extLst>
          </p:cNvPr>
          <p:cNvCxnSpPr/>
          <p:nvPr/>
        </p:nvCxnSpPr>
        <p:spPr>
          <a:xfrm>
            <a:off x="6664955" y="2829901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2" name="Picture 71" descr="A file with a red label&#10;&#10;AI-generated content may be incorrect.">
            <a:extLst>
              <a:ext uri="{FF2B5EF4-FFF2-40B4-BE49-F238E27FC236}">
                <a16:creationId xmlns:a16="http://schemas.microsoft.com/office/drawing/2014/main" id="{CD9309A2-9B1E-BC3A-23BF-EA0624CDE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6" y="2812742"/>
            <a:ext cx="442539" cy="442539"/>
          </a:xfrm>
          <a:prstGeom prst="rect">
            <a:avLst/>
          </a:prstGeom>
        </p:spPr>
      </p:pic>
      <p:pic>
        <p:nvPicPr>
          <p:cNvPr id="74" name="Picture 73" descr="A picture of mountains and sun&#10;&#10;AI-generated content may be incorrect.">
            <a:extLst>
              <a:ext uri="{FF2B5EF4-FFF2-40B4-BE49-F238E27FC236}">
                <a16:creationId xmlns:a16="http://schemas.microsoft.com/office/drawing/2014/main" id="{641EF50D-C7B3-4ABB-5BCF-7B28DD996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2493" y="2841507"/>
            <a:ext cx="416659" cy="416659"/>
          </a:xfrm>
          <a:prstGeom prst="rect">
            <a:avLst/>
          </a:prstGeom>
        </p:spPr>
      </p:pic>
      <p:pic>
        <p:nvPicPr>
          <p:cNvPr id="76" name="Picture 7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1EB5DA6-E97E-AAF8-8676-2514395F7A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8083" y="2897665"/>
            <a:ext cx="382211" cy="382211"/>
          </a:xfrm>
          <a:prstGeom prst="rect">
            <a:avLst/>
          </a:prstGeom>
        </p:spPr>
      </p:pic>
      <p:pic>
        <p:nvPicPr>
          <p:cNvPr id="80" name="Picture 7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CB55C10-0C55-C837-BFCE-3D11D91796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553713" y="2822130"/>
            <a:ext cx="337626" cy="337626"/>
          </a:xfrm>
          <a:prstGeom prst="rect">
            <a:avLst/>
          </a:prstGeom>
        </p:spPr>
      </p:pic>
      <p:pic>
        <p:nvPicPr>
          <p:cNvPr id="84" name="Picture 8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78F0AF9-EFF5-D116-47C9-0F4D377BC0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6041" y="2798043"/>
            <a:ext cx="278449" cy="278449"/>
          </a:xfrm>
          <a:prstGeom prst="rect">
            <a:avLst/>
          </a:prstGeom>
        </p:spPr>
      </p:pic>
      <p:cxnSp>
        <p:nvCxnSpPr>
          <p:cNvPr id="5" name="Connector 43">
            <a:extLst>
              <a:ext uri="{FF2B5EF4-FFF2-40B4-BE49-F238E27FC236}">
                <a16:creationId xmlns:a16="http://schemas.microsoft.com/office/drawing/2014/main" id="{EEBF2606-2945-0FF7-1E09-45DB39C466E2}"/>
              </a:ext>
            </a:extLst>
          </p:cNvPr>
          <p:cNvCxnSpPr/>
          <p:nvPr/>
        </p:nvCxnSpPr>
        <p:spPr>
          <a:xfrm>
            <a:off x="5339297" y="2811972"/>
            <a:ext cx="109728" cy="0"/>
          </a:xfrm>
          <a:prstGeom prst="line">
            <a:avLst/>
          </a:prstGeom>
          <a:ln w="22860">
            <a:solidFill>
              <a:srgbClr val="505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B3D3D60-E847-1089-C688-3AC9622EB2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0383" y="2780114"/>
            <a:ext cx="278449" cy="278449"/>
          </a:xfrm>
          <a:prstGeom prst="rect">
            <a:avLst/>
          </a:prstGeom>
        </p:spPr>
      </p:pic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ABCBD8D-79F4-257D-73B8-F293D9C18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789516" y="2730568"/>
            <a:ext cx="479289" cy="479289"/>
          </a:xfrm>
          <a:prstGeom prst="rect">
            <a:avLst/>
          </a:prstGeom>
        </p:spPr>
      </p:pic>
      <p:pic>
        <p:nvPicPr>
          <p:cNvPr id="59" name="Picture 5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2EF8C5C-E294-9941-E4BD-3C2EE92FA04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0939" y="2722070"/>
            <a:ext cx="526223" cy="526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565A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Качество</a:t>
            </a:r>
            <a:r>
              <a:rPr lang="en-US" sz="2500" b="1" dirty="0">
                <a:solidFill>
                  <a:srgbClr val="1565A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классификации страниц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21792" y="7589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Сравнение подходов и главный риск перед OMR-распознаванием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53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93B5A"/>
                </a:solidFill>
              </a:rPr>
              <a:t>Сравнение методов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7007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F1-score — баланс точности и полноты классификации.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216712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Rule-based detector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2148840"/>
            <a:ext cx="2148840" cy="210312"/>
          </a:xfrm>
          <a:prstGeom prst="roundRect">
            <a:avLst>
              <a:gd name="adj" fmla="val 21739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23160" y="2148840"/>
            <a:ext cx="2138526" cy="210312"/>
          </a:xfrm>
          <a:prstGeom prst="roundRect">
            <a:avLst>
              <a:gd name="adj" fmla="val 21739"/>
            </a:avLst>
          </a:prstGeom>
          <a:solidFill>
            <a:srgbClr val="1E8E5A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139696"/>
            <a:ext cx="594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827"/>
                </a:solidFill>
              </a:rPr>
              <a:t>0.9952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62432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CNN MobileNetV3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23160" y="2606040"/>
            <a:ext cx="2148840" cy="210312"/>
          </a:xfrm>
          <a:prstGeom prst="roundRect">
            <a:avLst>
              <a:gd name="adj" fmla="val 21739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23160" y="2606040"/>
            <a:ext cx="2135947" cy="210312"/>
          </a:xfrm>
          <a:prstGeom prst="roundRect">
            <a:avLst>
              <a:gd name="adj" fmla="val 21739"/>
            </a:avLst>
          </a:prstGeom>
          <a:solidFill>
            <a:srgbClr val="1565A9"/>
          </a:solidFill>
          <a:ln w="12700">
            <a:solidFill>
              <a:srgbClr val="1565A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596896"/>
            <a:ext cx="594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827"/>
                </a:solidFill>
              </a:rPr>
              <a:t>0.9940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308152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Random Forest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23160" y="3063240"/>
            <a:ext cx="2148840" cy="210312"/>
          </a:xfrm>
          <a:prstGeom prst="roundRect">
            <a:avLst>
              <a:gd name="adj" fmla="val 21739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23160" y="3063240"/>
            <a:ext cx="2129500" cy="210312"/>
          </a:xfrm>
          <a:prstGeom prst="roundRect">
            <a:avLst>
              <a:gd name="adj" fmla="val 21739"/>
            </a:avLst>
          </a:prstGeom>
          <a:solidFill>
            <a:srgbClr val="F2A51A"/>
          </a:solidFill>
          <a:ln w="12700">
            <a:solidFill>
              <a:srgbClr val="F2A5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3054096"/>
            <a:ext cx="594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827"/>
                </a:solidFill>
              </a:rPr>
              <a:t>0.9910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8368" y="3694176"/>
            <a:ext cx="4434840" cy="100584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C7D7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886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A9"/>
                </a:solidFill>
              </a:rPr>
              <a:t>Вывод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" y="416052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111827"/>
                </a:solidFill>
              </a:rPr>
              <a:t>Все подходы дают высокий F1. Для MVP можно использовать устойчивую фильтрацию и сохранять сложные случаи для дообучения классификатора.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5669280" y="1353312"/>
            <a:ext cx="0" cy="361188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353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93B5A"/>
                </a:solidFill>
              </a:rPr>
              <a:t>Что важно показать комиссии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0" y="1783080"/>
            <a:ext cx="4480560" cy="1143000"/>
          </a:xfrm>
          <a:prstGeom prst="roundRect">
            <a:avLst>
              <a:gd name="adj" fmla="val 6400"/>
            </a:avLst>
          </a:prstGeom>
          <a:solidFill>
            <a:srgbClr val="FFF7ED"/>
          </a:solidFill>
          <a:ln w="16510">
            <a:solidFill>
              <a:srgbClr val="FED7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9659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9A3412"/>
                </a:solidFill>
              </a:rPr>
              <a:t>Основной риск: ложные срабатывания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6629400" y="230428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False positive — страница не нотная, но классификатор отправил её в OMR.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6400800" y="3310128"/>
            <a:ext cx="1325880" cy="1024128"/>
          </a:xfrm>
          <a:prstGeom prst="roundRect">
            <a:avLst>
              <a:gd name="adj" fmla="val 6250"/>
            </a:avLst>
          </a:prstGeom>
          <a:solidFill>
            <a:srgbClr val="F5F7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49300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3B5A"/>
                </a:solidFill>
              </a:rPr>
              <a:t>title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92240" y="37947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B7280"/>
                </a:solidFill>
              </a:rPr>
              <a:t>титульные страницы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7955280" y="3310128"/>
            <a:ext cx="1325880" cy="1024128"/>
          </a:xfrm>
          <a:prstGeom prst="roundRect">
            <a:avLst>
              <a:gd name="adj" fmla="val 6250"/>
            </a:avLst>
          </a:prstGeom>
          <a:solidFill>
            <a:srgbClr val="F5F7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6720" y="349300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3B5A"/>
                </a:solidFill>
              </a:rPr>
              <a:t>text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046720" y="37947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B7280"/>
                </a:solidFill>
              </a:rPr>
              <a:t>текст / оглавление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9509760" y="3310128"/>
            <a:ext cx="1325880" cy="1024128"/>
          </a:xfrm>
          <a:prstGeom prst="roundRect">
            <a:avLst>
              <a:gd name="adj" fmla="val 6250"/>
            </a:avLst>
          </a:prstGeom>
          <a:solidFill>
            <a:srgbClr val="F5F7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0" y="349300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93B5A"/>
                </a:solidFill>
              </a:rPr>
              <a:t>blank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01200" y="37947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B7280"/>
                </a:solidFill>
              </a:rPr>
              <a:t>пустые листы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6400800" y="4617720"/>
            <a:ext cx="44805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1968" y="47365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A9"/>
                </a:solidFill>
              </a:rPr>
              <a:t>Фраза для защиты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01968" y="497433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Классификатор почти не теряет нотные страницы, но может пропускать в OMR лишние. Поэтому добавлена ручная проверка и hard negatives — сложные отрицательные примеры.</a:t>
            </a:r>
            <a:endParaRPr lang="en-US" sz="83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7CD78E41-938A-66DB-CA36-7296E613D5E6}"/>
              </a:ext>
            </a:extLst>
          </p:cNvPr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ru-RU" sz="800" dirty="0">
                <a:solidFill>
                  <a:srgbClr val="64748B"/>
                </a:solidFill>
              </a:rPr>
              <a:t>5</a:t>
            </a:r>
            <a:r>
              <a:rPr lang="en-US" sz="800" dirty="0">
                <a:solidFill>
                  <a:srgbClr val="64748B"/>
                </a:solidFill>
              </a:rPr>
              <a:t>/8</a:t>
            </a:r>
            <a:endParaRPr lang="en-US" sz="800" dirty="0"/>
          </a:p>
        </p:txBody>
      </p:sp>
      <p:pic>
        <p:nvPicPr>
          <p:cNvPr id="43" name="image1.jpg">
            <a:extLst>
              <a:ext uri="{FF2B5EF4-FFF2-40B4-BE49-F238E27FC236}">
                <a16:creationId xmlns:a16="http://schemas.microsoft.com/office/drawing/2014/main" id="{F794C6DA-5AEF-996C-4F73-38A5F605B85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Shape 14">
            <a:extLst>
              <a:ext uri="{FF2B5EF4-FFF2-40B4-BE49-F238E27FC236}">
                <a16:creationId xmlns:a16="http://schemas.microsoft.com/office/drawing/2014/main" id="{91261C7E-1BA7-B30C-0144-2DD6BA62E5F4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65A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OMR-300: техническая успешность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21792" y="7589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Основной запуск, резервная обработка и итоговый результат на 300 страницах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078992"/>
            <a:ext cx="1097280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93B5A"/>
                </a:solidFill>
              </a:rPr>
              <a:t>Сколько страниц дошло до результата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6733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6B7280"/>
                </a:solidFill>
              </a:rPr>
              <a:t>MXL/MusicXML — машиночитаемый нотный формат; MIDI — цифровое музыкальное представление.</a:t>
            </a:r>
            <a:endParaRPr lang="en-US" sz="98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58368" y="2057400"/>
          <a:ext cx="52120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325880"/>
            <a:ext cx="0" cy="457200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37960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93B5A"/>
                </a:solidFill>
              </a:rPr>
              <a:t>Ключевые выводы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537960" y="1792224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9E2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29400" y="191109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565A9"/>
                </a:solidFill>
              </a:rPr>
              <a:t>80.00%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647688" y="230428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Primary MXL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792224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9E2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191109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A51A"/>
                </a:solidFill>
              </a:rPr>
              <a:t>79.67%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933688" y="230428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Primary MIDI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537960" y="2889504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9E2E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29400" y="300837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8E5A"/>
                </a:solidFill>
              </a:rPr>
              <a:t>+16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47688" y="340156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400 DPI fallback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(резерв)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823960" y="2889504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9E2E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15400" y="300837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8E5A"/>
                </a:solidFill>
              </a:rPr>
              <a:t>+1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933688" y="340156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preprocessing fallback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(предобработка)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537960" y="4114800"/>
            <a:ext cx="4297680" cy="877824"/>
          </a:xfrm>
          <a:prstGeom prst="roundRect">
            <a:avLst>
              <a:gd name="adj" fmla="val 8333"/>
            </a:avLst>
          </a:prstGeom>
          <a:solidFill>
            <a:srgbClr val="EAF3FF"/>
          </a:solidFill>
          <a:ln w="12700">
            <a:solidFill>
              <a:srgbClr val="C7D7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48272" y="427939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1565A9"/>
                </a:solidFill>
              </a:rPr>
              <a:t>Итоговая техническая успешность</a:t>
            </a:r>
            <a:endParaRPr lang="en-US" sz="1180" dirty="0"/>
          </a:p>
        </p:txBody>
      </p:sp>
      <p:sp>
        <p:nvSpPr>
          <p:cNvPr id="24" name="Text 21"/>
          <p:cNvSpPr/>
          <p:nvPr/>
        </p:nvSpPr>
        <p:spPr>
          <a:xfrm>
            <a:off x="6748272" y="45720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11827"/>
                </a:solidFill>
              </a:rPr>
              <a:t>MXL: 257/300 = 85.67% · MIDI: 256/300 = 85.33%</a:t>
            </a:r>
            <a:endParaRPr lang="en-US" sz="1020" dirty="0"/>
          </a:p>
        </p:txBody>
      </p:sp>
      <p:sp>
        <p:nvSpPr>
          <p:cNvPr id="25" name="Shape 22"/>
          <p:cNvSpPr/>
          <p:nvPr/>
        </p:nvSpPr>
        <p:spPr>
          <a:xfrm>
            <a:off x="6537960" y="5230368"/>
            <a:ext cx="4297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48272" y="5385816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11827"/>
                </a:solidFill>
              </a:rPr>
              <a:t>Важно: это техническая успешность, а не музыкальная точность. Ноты, длительности и голоса требуют экспертной проверки.</a:t>
            </a:r>
            <a:endParaRPr lang="en-US" sz="870" dirty="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ACDB72F9-B3BA-4F49-77DF-C0F286ECADA4}"/>
              </a:ext>
            </a:extLst>
          </p:cNvPr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ru-RU" sz="800" dirty="0">
                <a:solidFill>
                  <a:srgbClr val="64748B"/>
                </a:solidFill>
              </a:rPr>
              <a:t>6</a:t>
            </a:r>
            <a:r>
              <a:rPr lang="en-US" sz="800" dirty="0">
                <a:solidFill>
                  <a:srgbClr val="64748B"/>
                </a:solidFill>
              </a:rPr>
              <a:t>/8</a:t>
            </a:r>
            <a:endParaRPr lang="en-US" sz="800" dirty="0"/>
          </a:p>
        </p:txBody>
      </p:sp>
      <p:pic>
        <p:nvPicPr>
          <p:cNvPr id="31" name="image1.jpg">
            <a:extLst>
              <a:ext uri="{FF2B5EF4-FFF2-40B4-BE49-F238E27FC236}">
                <a16:creationId xmlns:a16="http://schemas.microsoft.com/office/drawing/2014/main" id="{5A7F89A4-5C97-DFE7-2882-BF445A45EA3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Shape 14">
            <a:extLst>
              <a:ext uri="{FF2B5EF4-FFF2-40B4-BE49-F238E27FC236}">
                <a16:creationId xmlns:a16="http://schemas.microsoft.com/office/drawing/2014/main" id="{B5291BFC-0377-BCDC-5183-E1EE36318A9C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7782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72B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MXL → MIDI → Ableton</a:t>
            </a:r>
            <a:endParaRPr lang="en-US" sz="2500" dirty="0">
              <a:solidFill>
                <a:srgbClr val="0072BC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9875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Проверка практического использования результата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2926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</a:rPr>
              <a:t>Batch MXL → MIDI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dirty="0"/>
              <a:t>• 10 success / 0 failed
• 1 </a:t>
            </a:r>
            <a:r>
              <a:rPr lang="en-US" dirty="0" err="1"/>
              <a:t>файл</a:t>
            </a:r>
            <a:r>
              <a:rPr lang="en-US" dirty="0"/>
              <a:t>: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no_repeats</a:t>
            </a:r>
            <a:r>
              <a:rPr lang="en-US" dirty="0"/>
              <a:t>
• MIDI </a:t>
            </a:r>
            <a:r>
              <a:rPr lang="en-US" dirty="0" err="1"/>
              <a:t>импортирован</a:t>
            </a:r>
            <a:r>
              <a:rPr lang="en-US" dirty="0"/>
              <a:t> в Ableton
• </a:t>
            </a:r>
            <a:r>
              <a:rPr lang="en-US" dirty="0" err="1"/>
              <a:t>демо</a:t>
            </a:r>
            <a:r>
              <a:rPr lang="en-US" dirty="0"/>
              <a:t>: 5–10 </a:t>
            </a:r>
            <a:r>
              <a:rPr lang="en-US" dirty="0" err="1"/>
              <a:t>секунд</a:t>
            </a:r>
            <a:r>
              <a:rPr lang="en-US" dirty="0"/>
              <a:t> </a:t>
            </a:r>
            <a:r>
              <a:rPr lang="en-US" dirty="0" err="1"/>
              <a:t>воспроизведения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4389120" cy="56692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172A"/>
                </a:solidFill>
              </a:rPr>
              <a:t>PDF/MRC  →  pages  →  detector  →  labels  →  OMR candidates  →  300 DPI  →  Audiveris  →  MXL  →  music21  →  MIDI  →  Ableton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777240" y="4892040"/>
            <a:ext cx="44805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1200" dirty="0">
                <a:solidFill>
                  <a:srgbClr val="64748B"/>
                </a:solidFill>
              </a:rPr>
              <a:t>Демо показывает техническую работоспособность цепочки MXL → MIDI, но не заменяет экспертную оценку качества нот.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7/8</a:t>
            </a:r>
            <a:endParaRPr lang="en-US" sz="800" dirty="0"/>
          </a:p>
        </p:txBody>
      </p:sp>
      <p:pic>
        <p:nvPicPr>
          <p:cNvPr id="12" name="image1.jpg">
            <a:extLst>
              <a:ext uri="{FF2B5EF4-FFF2-40B4-BE49-F238E27FC236}">
                <a16:creationId xmlns:a16="http://schemas.microsoft.com/office/drawing/2014/main" id="{85DDC04A-4610-A913-2AA2-399687187EB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Shape 14">
            <a:extLst>
              <a:ext uri="{FF2B5EF4-FFF2-40B4-BE49-F238E27FC236}">
                <a16:creationId xmlns:a16="http://schemas.microsoft.com/office/drawing/2014/main" id="{1CE4480C-1C3A-454F-E460-B6A3BF0FAB49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  <p:pic>
        <p:nvPicPr>
          <p:cNvPr id="17" name="Picture 1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392898BE-0D7D-0CB7-5316-D3DF7928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417320"/>
            <a:ext cx="6679095" cy="37569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7782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72B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Ограничения и развитие</a:t>
            </a:r>
            <a:endParaRPr lang="en-US" sz="2500" dirty="0">
              <a:solidFill>
                <a:srgbClr val="0072BC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9875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MVP работает; качество OMR ещё нужно измерить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4846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</a:rPr>
              <a:t>Ограничения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75488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ru-RU" sz="1600" dirty="0"/>
              <a:t>• OMR </a:t>
            </a:r>
            <a:r>
              <a:rPr lang="ru-RU" sz="1600" dirty="0" err="1"/>
              <a:t>success</a:t>
            </a:r>
            <a:r>
              <a:rPr lang="ru-RU" sz="1600" dirty="0"/>
              <a:t> не равен музыкальной точности;</a:t>
            </a:r>
            <a:br>
              <a:rPr lang="ru-RU" sz="1600" dirty="0"/>
            </a:br>
            <a:r>
              <a:rPr lang="ru-RU" sz="1600" dirty="0"/>
              <a:t>• часть страниц ошибочно попадает в OMR из-за обложек, текста, пустых и декоративных страниц;</a:t>
            </a:r>
            <a:br>
              <a:rPr lang="ru-RU" sz="1600" dirty="0"/>
            </a:br>
            <a:r>
              <a:rPr lang="ru-RU" sz="1600" dirty="0"/>
              <a:t>• нет полной </a:t>
            </a:r>
            <a:r>
              <a:rPr lang="ru-RU" sz="1600" dirty="0" err="1"/>
              <a:t>symbol-level</a:t>
            </a:r>
            <a:r>
              <a:rPr lang="ru-RU" sz="1600" dirty="0"/>
              <a:t> </a:t>
            </a:r>
            <a:r>
              <a:rPr lang="ru-RU" sz="1600" dirty="0" err="1"/>
              <a:t>ground</a:t>
            </a:r>
            <a:r>
              <a:rPr lang="ru-RU" sz="1600" dirty="0"/>
              <a:t> </a:t>
            </a:r>
            <a:r>
              <a:rPr lang="ru-RU" sz="1600" dirty="0" err="1"/>
              <a:t>truth</a:t>
            </a:r>
            <a:r>
              <a:rPr lang="ru-RU" sz="1600" dirty="0"/>
              <a:t>-разметки;</a:t>
            </a:r>
            <a:br>
              <a:rPr lang="ru-RU" sz="1600" dirty="0"/>
            </a:br>
            <a:r>
              <a:rPr lang="ru-RU" sz="1600" dirty="0"/>
              <a:t>• ручная проверка выполнена частично: 23 из 43 </a:t>
            </a:r>
            <a:r>
              <a:rPr lang="ru-RU" sz="1600" dirty="0" err="1"/>
              <a:t>final</a:t>
            </a:r>
            <a:r>
              <a:rPr lang="ru-RU" sz="1600" dirty="0"/>
              <a:t> </a:t>
            </a:r>
            <a:r>
              <a:rPr lang="ru-RU" sz="1600" dirty="0" err="1"/>
              <a:t>failed</a:t>
            </a:r>
            <a:r>
              <a:rPr lang="ru-RU" sz="1600" dirty="0"/>
              <a:t>;</a:t>
            </a:r>
            <a:br>
              <a:rPr lang="ru-RU" sz="1600" dirty="0"/>
            </a:br>
            <a:r>
              <a:rPr lang="ru-RU" sz="1600" dirty="0"/>
              <a:t>• правовой режим публикации MXL/MIDI требует отдельной проверки.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0" y="1417320"/>
            <a:ext cx="4846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A34A"/>
                </a:solidFill>
              </a:rPr>
              <a:t>Roadmap к ВКР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46520" y="1874520"/>
            <a:ext cx="475488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ru-RU" sz="1600" dirty="0"/>
              <a:t>• завершить ручной разбор 43 </a:t>
            </a:r>
            <a:r>
              <a:rPr lang="ru-RU" sz="1600" dirty="0" err="1"/>
              <a:t>final</a:t>
            </a:r>
            <a:r>
              <a:rPr lang="ru-RU" sz="1600" dirty="0"/>
              <a:t> </a:t>
            </a:r>
            <a:r>
              <a:rPr lang="ru-RU" sz="1600" dirty="0" err="1"/>
              <a:t>failures</a:t>
            </a:r>
            <a:r>
              <a:rPr lang="ru-RU" sz="1600" dirty="0"/>
              <a:t>;</a:t>
            </a:r>
            <a:br>
              <a:rPr lang="ru-RU" sz="1600" dirty="0"/>
            </a:br>
            <a:r>
              <a:rPr lang="ru-RU" sz="1600" dirty="0"/>
              <a:t>• использовать </a:t>
            </a:r>
            <a:r>
              <a:rPr lang="ru-RU" sz="1600" dirty="0" err="1"/>
              <a:t>hard</a:t>
            </a:r>
            <a:r>
              <a:rPr lang="ru-RU" sz="1600" dirty="0"/>
              <a:t> </a:t>
            </a:r>
            <a:r>
              <a:rPr lang="ru-RU" sz="1600" dirty="0" err="1"/>
              <a:t>negatives</a:t>
            </a:r>
            <a:r>
              <a:rPr lang="ru-RU" sz="1600" dirty="0"/>
              <a:t> для дообучения классификатора;</a:t>
            </a:r>
            <a:br>
              <a:rPr lang="ru-RU" sz="1600" dirty="0"/>
            </a:br>
            <a:r>
              <a:rPr lang="ru-RU" sz="1600" dirty="0"/>
              <a:t>• провести экспертную оценку MXL/MIDI;</a:t>
            </a:r>
            <a:br>
              <a:rPr lang="ru-RU" sz="1600" dirty="0"/>
            </a:br>
            <a:r>
              <a:rPr lang="ru-RU" sz="1600" dirty="0"/>
              <a:t>• оценить ошибки </a:t>
            </a:r>
            <a:r>
              <a:rPr lang="ru-RU" sz="1600" dirty="0" err="1"/>
              <a:t>pitch</a:t>
            </a:r>
            <a:r>
              <a:rPr lang="ru-RU" sz="1600" dirty="0"/>
              <a:t>/</a:t>
            </a:r>
            <a:r>
              <a:rPr lang="ru-RU" sz="1600" dirty="0" err="1"/>
              <a:t>duration</a:t>
            </a:r>
            <a:r>
              <a:rPr lang="ru-RU" sz="1600" dirty="0"/>
              <a:t>/</a:t>
            </a:r>
            <a:r>
              <a:rPr lang="ru-RU" sz="1600" dirty="0" err="1"/>
              <a:t>voice</a:t>
            </a:r>
            <a:r>
              <a:rPr lang="ru-RU" sz="1600" dirty="0"/>
              <a:t>;</a:t>
            </a:r>
            <a:br>
              <a:rPr lang="ru-RU" sz="1600" dirty="0"/>
            </a:br>
            <a:r>
              <a:rPr lang="ru-RU" sz="1600" dirty="0"/>
              <a:t>• добавить поиск по музыкальным признакам и UI/API.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9875520" cy="6290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sz="2000" b="1" dirty="0">
                <a:solidFill>
                  <a:srgbClr val="2563EB"/>
                </a:solidFill>
              </a:rPr>
              <a:t>MVP показывает полный технический путь от PDF-скана нотного документа до </a:t>
            </a:r>
            <a:r>
              <a:rPr lang="ru-RU" sz="2000" b="1" dirty="0" err="1">
                <a:solidFill>
                  <a:srgbClr val="2563EB"/>
                </a:solidFill>
              </a:rPr>
              <a:t>MusicXML</a:t>
            </a:r>
            <a:r>
              <a:rPr lang="ru-RU" sz="2000" b="1" dirty="0">
                <a:solidFill>
                  <a:srgbClr val="2563EB"/>
                </a:solidFill>
              </a:rPr>
              <a:t>/MXL, MIDI и музыкальных признаков.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652760" y="6446520"/>
            <a:ext cx="10515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</a:rPr>
              <a:t>8/8</a:t>
            </a:r>
            <a:endParaRPr lang="en-US" sz="800" dirty="0"/>
          </a:p>
        </p:txBody>
      </p:sp>
      <p:pic>
        <p:nvPicPr>
          <p:cNvPr id="12" name="image1.jpg">
            <a:extLst>
              <a:ext uri="{FF2B5EF4-FFF2-40B4-BE49-F238E27FC236}">
                <a16:creationId xmlns:a16="http://schemas.microsoft.com/office/drawing/2014/main" id="{85039E06-DBB3-A951-8669-14D20E73124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26280" y="6213378"/>
            <a:ext cx="621059" cy="49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Shape 14">
            <a:extLst>
              <a:ext uri="{FF2B5EF4-FFF2-40B4-BE49-F238E27FC236}">
                <a16:creationId xmlns:a16="http://schemas.microsoft.com/office/drawing/2014/main" id="{203E1AF8-E828-383E-3027-ED882203CA4E}"/>
              </a:ext>
            </a:extLst>
          </p:cNvPr>
          <p:cNvSpPr/>
          <p:nvPr/>
        </p:nvSpPr>
        <p:spPr>
          <a:xfrm>
            <a:off x="832312" y="6323478"/>
            <a:ext cx="5074170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1500">
                <a:solidFill>
                  <a:srgbClr val="535353"/>
                </a:solidFill>
              </a:defRPr>
            </a:lvl1pPr>
          </a:lstStyle>
          <a:p>
            <a:r>
              <a:rPr lang="en-US" sz="1200" b="1" dirty="0" err="1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NoteVision</a:t>
            </a: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OMR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866</Words>
  <Application>Microsoft Office PowerPoint</Application>
  <PresentationFormat>Widescreen</PresentationFormat>
  <Paragraphs>143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NoteVision OMR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NoteVision OMR</dc:title>
  <dc:subject>Проектный семинар — финальная презентация</dc:subject>
  <dc:creator>Evgeniy Kolesnikov</dc:creator>
  <cp:lastModifiedBy>ek</cp:lastModifiedBy>
  <cp:revision>5</cp:revision>
  <dcterms:created xsi:type="dcterms:W3CDTF">2026-06-07T21:25:45Z</dcterms:created>
  <dcterms:modified xsi:type="dcterms:W3CDTF">2026-06-14T13:02:14Z</dcterms:modified>
</cp:coreProperties>
</file>